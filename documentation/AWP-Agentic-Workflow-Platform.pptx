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8229600" cx="14630400"/>
  <p:notesSz cx="8229600" cy="14630400"/>
  <p:embeddedFontLst>
    <p:embeddedFont>
      <p:font typeface="Instrument Sans SemiBold"/>
      <p:regular r:id="rId28"/>
      <p:bold r:id="rId29"/>
      <p:italic r:id="rId30"/>
      <p:boldItalic r:id="rId31"/>
    </p:embeddedFont>
    <p:embeddedFont>
      <p:font typeface="Instrument Sans Medium"/>
      <p:regular r:id="rId32"/>
      <p:bold r:id="rId33"/>
      <p:italic r:id="rId34"/>
      <p:boldItalic r:id="rId35"/>
    </p:embeddedFont>
    <p:embeddedFont>
      <p:font typeface="Instrument Sans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0" roundtripDataSignature="AMtx7mgT5OpUnhf9kSuvNgZjuQyajLeW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B8AAB2D-5003-4E4E-BC94-490F7A6334B2}">
  <a:tblStyle styleId="{5B8AAB2D-5003-4E4E-BC94-490F7A6334B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C558C3F9-6CAC-4744-8D0C-EB8345921052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InstrumentSansSemiBold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strumentSans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strumentSansSemiBold-boldItalic.fntdata"/><Relationship Id="rId30" Type="http://schemas.openxmlformats.org/officeDocument/2006/relationships/font" Target="fonts/InstrumentSansSemiBold-italic.fntdata"/><Relationship Id="rId11" Type="http://schemas.openxmlformats.org/officeDocument/2006/relationships/slide" Target="slides/slide6.xml"/><Relationship Id="rId33" Type="http://schemas.openxmlformats.org/officeDocument/2006/relationships/font" Target="fonts/InstrumentSansMedium-bold.fntdata"/><Relationship Id="rId10" Type="http://schemas.openxmlformats.org/officeDocument/2006/relationships/slide" Target="slides/slide5.xml"/><Relationship Id="rId32" Type="http://schemas.openxmlformats.org/officeDocument/2006/relationships/font" Target="fonts/InstrumentSansMedium-regular.fntdata"/><Relationship Id="rId13" Type="http://schemas.openxmlformats.org/officeDocument/2006/relationships/slide" Target="slides/slide8.xml"/><Relationship Id="rId35" Type="http://schemas.openxmlformats.org/officeDocument/2006/relationships/font" Target="fonts/InstrumentSansMedium-boldItalic.fntdata"/><Relationship Id="rId12" Type="http://schemas.openxmlformats.org/officeDocument/2006/relationships/slide" Target="slides/slide7.xml"/><Relationship Id="rId34" Type="http://schemas.openxmlformats.org/officeDocument/2006/relationships/font" Target="fonts/InstrumentSansMedium-italic.fntdata"/><Relationship Id="rId15" Type="http://schemas.openxmlformats.org/officeDocument/2006/relationships/slide" Target="slides/slide10.xml"/><Relationship Id="rId37" Type="http://schemas.openxmlformats.org/officeDocument/2006/relationships/font" Target="fonts/InstrumentSans-bold.fntdata"/><Relationship Id="rId14" Type="http://schemas.openxmlformats.org/officeDocument/2006/relationships/slide" Target="slides/slide9.xml"/><Relationship Id="rId36" Type="http://schemas.openxmlformats.org/officeDocument/2006/relationships/font" Target="fonts/InstrumentSans-regular.fntdata"/><Relationship Id="rId17" Type="http://schemas.openxmlformats.org/officeDocument/2006/relationships/slide" Target="slides/slide12.xml"/><Relationship Id="rId39" Type="http://schemas.openxmlformats.org/officeDocument/2006/relationships/font" Target="fonts/InstrumentSans-boldItalic.fntdata"/><Relationship Id="rId16" Type="http://schemas.openxmlformats.org/officeDocument/2006/relationships/slide" Target="slides/slide11.xml"/><Relationship Id="rId38" Type="http://schemas.openxmlformats.org/officeDocument/2006/relationships/font" Target="fonts/InstrumentSans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Bonjour à tout et à tous ! </a:t>
            </a:r>
            <a:endParaRPr sz="11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Je m'appelle Mohamad Nabaa. </a:t>
            </a:r>
            <a:endParaRPr sz="11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J'ai 15 ans d'expérience dans le domaine technologique, dont 8 ans comme architecte de solutions et 4 ans dans le domaine de l'IA générique. </a:t>
            </a:r>
            <a:endParaRPr sz="11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Dans le cadre de ce processus de recrutement, vous m'avez demandé de préparer une présentation architecturale pour un client du secteur du luxe.</a:t>
            </a:r>
            <a:endParaRPr sz="11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 présentation couvrira :</a:t>
            </a:r>
            <a:endParaRPr sz="11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4" name="Google Shape;4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/>
          <p:nvPr>
            <p:ph idx="2" type="sldImg"/>
          </p:nvPr>
        </p:nvSpPr>
        <p:spPr>
          <a:xfrm>
            <a:off x="-273050" y="1828800"/>
            <a:ext cx="8775700" cy="493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Cas d’usage :</a:t>
            </a:r>
            <a:r>
              <a:rPr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Un client du secteur du luxe a </a:t>
            </a:r>
            <a:r>
              <a:rPr b="1"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25 000 utilisateurs internes</a:t>
            </a:r>
            <a:r>
              <a:rPr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qui utilisent un chatbot statique sur leur intranet.</a:t>
            </a:r>
            <a:endParaRPr sz="11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 client du secteur du luxe compte 25 000 utilisateurs internes qui utilisent un chatbot statique sur leur intranet.</a:t>
            </a:r>
            <a:endParaRPr sz="11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L'objectif est de développer une plateforme agentique pour renforcer les compétences de vos collaborateurs.</a:t>
            </a:r>
            <a:endParaRPr sz="11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Pour cette plateforme agentique :</a:t>
            </a:r>
            <a:endParaRPr sz="11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Nous avons choisi le modèle Superviseur/Agent pour garantir une gouvernance centralisée.</a:t>
            </a:r>
            <a:endParaRPr sz="11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Un superviseur (</a:t>
            </a:r>
            <a:r>
              <a:rPr b="1"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LangGraph</a:t>
            </a:r>
            <a:r>
              <a:rPr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) orchestre des agents spécialisés (</a:t>
            </a:r>
            <a:r>
              <a:rPr b="1"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CrewAI</a:t>
            </a:r>
            <a:r>
              <a:rPr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) </a:t>
            </a:r>
            <a:endParaRPr sz="11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capables d'exécuter des actions complexes via leurs outils connectés.</a:t>
            </a:r>
            <a:endParaRPr sz="11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Chaque décision prise par l'IA est tracée et remontée par </a:t>
            </a:r>
            <a:r>
              <a:rPr b="1"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Langfuse</a:t>
            </a:r>
            <a:r>
              <a:rPr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vers </a:t>
            </a:r>
            <a:r>
              <a:rPr b="1"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Cloud Logging</a:t>
            </a:r>
            <a:r>
              <a:rPr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pour garantir une transparence et une observabilité totales.</a:t>
            </a:r>
            <a:endParaRPr sz="11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45720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Pour l’architecture physique </a:t>
            </a:r>
            <a:r>
              <a:rPr b="1" lang="en-GB" sz="1200">
                <a:solidFill>
                  <a:schemeClr val="dk1"/>
                </a:solidFill>
              </a:rPr>
              <a:t>souveraine</a:t>
            </a:r>
            <a:r>
              <a:rPr lang="en-GB" sz="1200">
                <a:solidFill>
                  <a:schemeClr val="dk1"/>
                </a:solidFill>
              </a:rPr>
              <a:t> et </a:t>
            </a:r>
            <a:r>
              <a:rPr b="1" lang="en-GB" sz="1200">
                <a:solidFill>
                  <a:schemeClr val="dk1"/>
                </a:solidFill>
              </a:rPr>
              <a:t>Zero-Trust</a:t>
            </a:r>
            <a:r>
              <a:rPr lang="en-GB" sz="1200">
                <a:solidFill>
                  <a:schemeClr val="dk1"/>
                </a:solidFill>
              </a:rPr>
              <a:t> :</a:t>
            </a:r>
            <a:endParaRPr sz="12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Nous avons choisi un design </a:t>
            </a:r>
            <a:r>
              <a:rPr b="1" lang="en-GB" sz="1200">
                <a:solidFill>
                  <a:schemeClr val="dk1"/>
                </a:solidFill>
              </a:rPr>
              <a:t>serverless</a:t>
            </a:r>
            <a:r>
              <a:rPr lang="en-GB" sz="1200">
                <a:solidFill>
                  <a:schemeClr val="dk1"/>
                </a:solidFill>
              </a:rPr>
              <a:t> pour notre orchestrateur avec </a:t>
            </a:r>
            <a:r>
              <a:rPr b="1" lang="en-GB" sz="1200">
                <a:solidFill>
                  <a:schemeClr val="dk1"/>
                </a:solidFill>
              </a:rPr>
              <a:t>Confidential GKE Autopilot</a:t>
            </a:r>
            <a:r>
              <a:rPr lang="en-GB" sz="1200">
                <a:solidFill>
                  <a:schemeClr val="dk1"/>
                </a:solidFill>
              </a:rPr>
              <a:t> </a:t>
            </a:r>
            <a:r>
              <a:rPr i="1" lang="en-GB" sz="1200">
                <a:solidFill>
                  <a:schemeClr val="dk1"/>
                </a:solidFill>
              </a:rPr>
              <a:t>(incluant le chiffrement de lamémoire au niveau matériel (</a:t>
            </a:r>
            <a:r>
              <a:rPr b="1" i="1" lang="en-GB" sz="1200">
                <a:solidFill>
                  <a:schemeClr val="dk1"/>
                </a:solidFill>
              </a:rPr>
              <a:t>AMD SEV-SNP</a:t>
            </a:r>
            <a:r>
              <a:rPr i="1" lang="en-GB" sz="1200">
                <a:solidFill>
                  <a:schemeClr val="dk1"/>
                </a:solidFill>
              </a:rPr>
              <a:t>)</a:t>
            </a:r>
            <a:r>
              <a:rPr lang="en-GB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Côté réseau, nous intégrons :</a:t>
            </a:r>
            <a:endParaRPr sz="11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strument Sans"/>
              <a:buChar char="●"/>
            </a:pPr>
            <a:r>
              <a:rPr b="1"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VPC Service Control</a:t>
            </a:r>
            <a:r>
              <a:rPr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(région europe-west-9).</a:t>
            </a:r>
            <a:endParaRPr sz="11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Une </a:t>
            </a:r>
            <a:r>
              <a:rPr b="1" lang="en-GB" sz="1100">
                <a:solidFill>
                  <a:schemeClr val="dk1"/>
                </a:solidFill>
              </a:rPr>
              <a:t>Sovereign Access Gate</a:t>
            </a:r>
            <a:r>
              <a:rPr lang="en-GB" sz="1100">
                <a:solidFill>
                  <a:schemeClr val="dk1"/>
                </a:solidFill>
              </a:rPr>
              <a:t> avec IAP Auth + Access Approval.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strument Sans"/>
              <a:buChar char="●"/>
            </a:pPr>
            <a:r>
              <a:rPr b="1"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Cloud NAT</a:t>
            </a:r>
            <a:r>
              <a:rPr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pour la gestion de l'EGRESS.</a:t>
            </a:r>
            <a:endParaRPr sz="11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</a:br>
            <a:r>
              <a:rPr b="1"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================================================================================================================================================================================</a:t>
            </a:r>
            <a:br>
              <a:rPr b="1"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</a:br>
            <a:r>
              <a:rPr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Zero-Trust Hardware-Enforced Enclave (</a:t>
            </a:r>
            <a:r>
              <a:rPr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europe-west-9)</a:t>
            </a:r>
            <a:endParaRPr sz="11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Infrastructure Breakdown:</a:t>
            </a:r>
            <a:endParaRPr b="1" sz="11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Orchestrator (The Brain):</a:t>
            </a:r>
            <a:r>
              <a:rPr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</a:t>
            </a:r>
            <a:r>
              <a:rPr b="1"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GKE Autopilot</a:t>
            </a:r>
            <a:r>
              <a:rPr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running LangGraph. Hardware-level memory encryption (AMD SEV-SNP) ensures the supervisor's reasoning logic is invisible to the provider.</a:t>
            </a:r>
            <a:endParaRPr sz="11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Vertex AI Endpoints</a:t>
            </a:r>
            <a:r>
              <a:rPr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. BUT can change to </a:t>
            </a:r>
            <a:r>
              <a:rPr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Models deployed on N2D/C3 machine types with the "Confidential Computing" toggle enabled to eliminate the "RAM Gap" during processing</a:t>
            </a:r>
            <a:endParaRPr sz="11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Sovereign Access Gate:</a:t>
            </a:r>
            <a:r>
              <a:rPr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</a:t>
            </a:r>
            <a:r>
              <a:rPr b="1"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IAP Auth + Access Approval</a:t>
            </a:r>
            <a:r>
              <a:rPr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. Dual-layer security requiring explicit user identity verification and time-bound client approval before any administrative provider access.</a:t>
            </a:r>
            <a:endParaRPr sz="11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Networking:</a:t>
            </a:r>
            <a:r>
              <a:rPr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</a:t>
            </a:r>
            <a:r>
              <a:rPr b="1"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VPC Service Control (</a:t>
            </a:r>
            <a:r>
              <a:rPr b="1"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europe-west-9</a:t>
            </a:r>
            <a:r>
              <a:rPr b="1"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)</a:t>
            </a:r>
            <a:r>
              <a:rPr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perimeter encompassing all components to prevent data exfiltration to unauthorized external IPs.</a:t>
            </a:r>
            <a:endParaRPr sz="11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45720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00" name="Google Shape;10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86952480f_0_9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g3b86952480f_0_9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 </a:t>
            </a:r>
            <a:r>
              <a:rPr lang="en-GB" sz="12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Mémoire</a:t>
            </a:r>
            <a:r>
              <a:rPr lang="en-GB" sz="12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Externe de notre client a:</a:t>
            </a:r>
            <a:br>
              <a:rPr lang="en-GB" sz="12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</a:br>
            <a:br>
              <a:rPr lang="en-GB" sz="12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</a:br>
            <a:r>
              <a:rPr lang="en-GB" sz="12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Unstructured Data: Confluence+Drive + RAG </a:t>
            </a:r>
            <a:r>
              <a:rPr lang="en-GB" sz="12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Ephemeral</a:t>
            </a:r>
            <a:endParaRPr sz="12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Structured Data: BigQuery</a:t>
            </a:r>
            <a:endParaRPr sz="12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30" name="Google Shape;130;g3b86952480f_0_9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Économies :</a:t>
            </a:r>
            <a:r>
              <a:rPr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Réduction drastique des frais de support (L1/L2).</a:t>
            </a:r>
            <a:endParaRPr sz="11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Vitesse :</a:t>
            </a:r>
            <a:r>
              <a:rPr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Automatisation des workflows vs processus manuels.</a:t>
            </a:r>
            <a:endParaRPr sz="11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Contrôle :</a:t>
            </a:r>
            <a:r>
              <a:rPr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Souveraineté UE vs Opacité des modèles standards.</a:t>
            </a:r>
            <a:endParaRPr sz="11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Flexibilité :</a:t>
            </a:r>
            <a:r>
              <a:rPr lang="en-GB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Paiement à l'usage (Serverless) vs Coûts fixes.</a:t>
            </a:r>
            <a:endParaRPr sz="11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47" name="Google Shape;14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 résumé : ont remplace un coût récurrent par un actif stratégique sécurisé, souverain et performant</a:t>
            </a:r>
            <a:endParaRPr sz="12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98" name="Google Shape;198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babb943bfa_0_9:notes"/>
          <p:cNvSpPr/>
          <p:nvPr>
            <p:ph idx="2" type="sldImg"/>
          </p:nvPr>
        </p:nvSpPr>
        <p:spPr>
          <a:xfrm>
            <a:off x="1371850" y="1097275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babb943bfa_0_9:notes"/>
          <p:cNvSpPr txBox="1"/>
          <p:nvPr>
            <p:ph idx="1" type="body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babb943bfa_0_13:notes"/>
          <p:cNvSpPr/>
          <p:nvPr>
            <p:ph idx="2" type="sldImg"/>
          </p:nvPr>
        </p:nvSpPr>
        <p:spPr>
          <a:xfrm>
            <a:off x="1371850" y="1097275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babb943bfa_0_13:notes"/>
          <p:cNvSpPr txBox="1"/>
          <p:nvPr>
            <p:ph idx="1" type="body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:notes"/>
          <p:cNvSpPr/>
          <p:nvPr>
            <p:ph idx="2" type="sldImg"/>
          </p:nvPr>
        </p:nvSpPr>
        <p:spPr>
          <a:xfrm>
            <a:off x="-273050" y="1828800"/>
            <a:ext cx="8775700" cy="493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1:notes"/>
          <p:cNvSpPr txBox="1"/>
          <p:nvPr>
            <p:ph idx="1" type="body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b86952480f_0_59:notes"/>
          <p:cNvSpPr/>
          <p:nvPr>
            <p:ph idx="2" type="sldImg"/>
          </p:nvPr>
        </p:nvSpPr>
        <p:spPr>
          <a:xfrm>
            <a:off x="-273050" y="1828800"/>
            <a:ext cx="8775600" cy="493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b86952480f_0_59:notes"/>
          <p:cNvSpPr txBox="1"/>
          <p:nvPr>
            <p:ph idx="1" type="body"/>
          </p:nvPr>
        </p:nvSpPr>
        <p:spPr>
          <a:xfrm>
            <a:off x="822325" y="7040563"/>
            <a:ext cx="6585000" cy="57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b86952480f_0_71:notes"/>
          <p:cNvSpPr/>
          <p:nvPr>
            <p:ph idx="2" type="sldImg"/>
          </p:nvPr>
        </p:nvSpPr>
        <p:spPr>
          <a:xfrm>
            <a:off x="1371850" y="1097275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b86952480f_0_71:notes"/>
          <p:cNvSpPr txBox="1"/>
          <p:nvPr>
            <p:ph idx="1" type="body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Continuous Benchmarking</a:t>
            </a:r>
            <a:r>
              <a:rPr b="0" i="0" lang="en-GB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(To catch prompt drift/LLM updates)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Observability</a:t>
            </a:r>
            <a:r>
              <a:rPr b="0" i="0" lang="en-GB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Si un utilisateur "flague" une réponse (hallucination), on peut remonter instantanément au document source ou à la décision précise de l'agent.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QA &amp; Testing</a:t>
            </a:r>
            <a:r>
              <a:rPr b="0" i="0" lang="en-GB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On fait tourner plus de 100 tests de non-régression à chaque mise à jour du code via la CI/CD pour garantir que la qualité des réponses ne dégrade pas.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Résilience:</a:t>
            </a:r>
            <a:r>
              <a:rPr b="0" i="0" lang="en-GB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cas de lenteur ou de panne d'un outil externe (ex: ServiceNow), le système bascule en "mode dégradé" proprement au lieu de planter.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Vertex AI Search ($2.50 / 1k queries):</a:t>
            </a:r>
            <a:r>
              <a:rPr b="0" i="0"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1,000 users ask 5 questions a day, and your "Researcher Agent" decides to perform 3 searches per question to "refine results,”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$1,000 \text{ users} \times 5 \text{ Qs} \times 3 \text{ searches} \times 20 \text{ days} = 300,000 \text{ queries/mo} = $750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Critical Risk:</a:t>
            </a:r>
            <a:r>
              <a:rPr b="0" i="0"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If a bug causes the agent to loop 10 times instead of 3, this cost triples overnight.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r>
              <a:rPr b="0" i="0"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Hard-limit the number of tool calls per turn in your LangGraph definition.</a:t>
            </a:r>
            <a:endParaRPr b="0" i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b86952480f_0_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0" name="Google Shape;270;g3b86952480f_0_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 cœur du système est isolé au sein d'un périmètre VPC Service Controls sur GCP, garantissant que les données ne quittent jamais cet environnement sécurisé.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Identité et Accès : l'authentification est gérée par IAP (Identity-Aware Proxy), assurant la propagation de l'identité de l'utilisateur.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Souveraineté des Données : les données sont localisées en Europe (EU Residency).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Connectivité Maîtrisée : tous les flux passent par un Cloud NAT avec une adresse IP fixe autorisée (whitelisted), sécurisant les échanges via REST/OAuth.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Scalabilité Serverless : l'utilisation de Cloud Run permet une mise à l'échelle automatique selon l'usage, optimisant les coûts tout en supportant une charge allant jusqu'à 25 000 utilisateurs.</a:t>
            </a:r>
            <a:endParaRPr/>
          </a:p>
        </p:txBody>
      </p:sp>
      <p:sp>
        <p:nvSpPr>
          <p:cNvPr id="271" name="Google Shape;271;g3b86952480f_0_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b86952480f_0_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" name="Google Shape;279;g3b86952480f_0_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3b86952480f_0_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2:notes"/>
          <p:cNvSpPr/>
          <p:nvPr>
            <p:ph idx="2" type="sldImg"/>
          </p:nvPr>
        </p:nvSpPr>
        <p:spPr>
          <a:xfrm>
            <a:off x="-273050" y="1828800"/>
            <a:ext cx="8775700" cy="493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12:notes"/>
          <p:cNvSpPr txBox="1"/>
          <p:nvPr>
            <p:ph idx="1" type="body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babb943bfa_0_0:notes"/>
          <p:cNvSpPr/>
          <p:nvPr>
            <p:ph idx="2" type="sldImg"/>
          </p:nvPr>
        </p:nvSpPr>
        <p:spPr>
          <a:xfrm>
            <a:off x="1371850" y="1097275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babb943bfa_0_0:notes"/>
          <p:cNvSpPr txBox="1"/>
          <p:nvPr>
            <p:ph idx="1" type="body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Same CapEx but whatever you offload from LLM tokens will be paid for the team+ </a:t>
            </a:r>
            <a:r>
              <a:rPr lang="en-GB"/>
              <a:t>renovation</a:t>
            </a:r>
            <a:r>
              <a:rPr lang="en-GB"/>
              <a:t> and retention over the long run. </a:t>
            </a:r>
            <a:br>
              <a:rPr lang="en-GB"/>
            </a:br>
            <a:r>
              <a:rPr lang="en-GB"/>
              <a:t>You will ending up chasing the </a:t>
            </a:r>
            <a:r>
              <a:rPr lang="en-GB"/>
              <a:t>latest</a:t>
            </a:r>
            <a:r>
              <a:rPr lang="en-GB"/>
              <a:t> in tech and although no vendor lockin, but latest tech and offering will always come in late.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Unless you have a team of DS continuously adapting tto the latest and innovating on your data/needs. Then you will be replacing the L1/L2 on the service line with your own Datacenter heavy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25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25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"/>
          <p:cNvSpPr/>
          <p:nvPr/>
        </p:nvSpPr>
        <p:spPr>
          <a:xfrm>
            <a:off x="793790" y="2326005"/>
            <a:ext cx="645914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84C1FA"/>
              </a:buClr>
              <a:buSzPts val="4450"/>
              <a:buFont typeface="Instrument Sans SemiBold"/>
              <a:buNone/>
            </a:pPr>
            <a:r>
              <a:rPr lang="en-GB" sz="4450">
                <a:solidFill>
                  <a:srgbClr val="84C1FA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AWP</a:t>
            </a:r>
            <a:r>
              <a:rPr lang="en-GB" sz="4450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 Agentic Workflow Platform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793790" y="3834289"/>
            <a:ext cx="4536519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3550"/>
              <a:buFont typeface="Instrument Sans SemiBold"/>
              <a:buNone/>
            </a:pPr>
            <a:r>
              <a:rPr lang="en-GB" sz="3550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Architecture Study</a:t>
            </a:r>
            <a:endParaRPr sz="3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"/>
          <p:cNvSpPr/>
          <p:nvPr/>
        </p:nvSpPr>
        <p:spPr>
          <a:xfrm>
            <a:off x="793790" y="4741426"/>
            <a:ext cx="645914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200"/>
              <a:buFont typeface="Instrument Sans Medium"/>
              <a:buNone/>
            </a:pPr>
            <a:r>
              <a:rPr lang="en-GB" sz="22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Mohamad NABAA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793790" y="5450086"/>
            <a:ext cx="645914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200"/>
              <a:buFont typeface="Instrument Sans Medium"/>
              <a:buNone/>
            </a:pPr>
            <a:r>
              <a:rPr lang="en-GB" sz="22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20 Janvier 2026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" name="Google Shape;5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34031" y="733778"/>
            <a:ext cx="5996369" cy="7495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"/>
          <p:cNvSpPr/>
          <p:nvPr/>
        </p:nvSpPr>
        <p:spPr>
          <a:xfrm>
            <a:off x="793790" y="156043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4C1FA"/>
              </a:buClr>
              <a:buSzPts val="2200"/>
              <a:buFont typeface="Instrument Sans SemiBold"/>
              <a:buNone/>
            </a:pPr>
            <a:r>
              <a:rPr lang="en-GB" sz="2200">
                <a:solidFill>
                  <a:srgbClr val="84C1FA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Sommaire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793790" y="2005489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50"/>
              <a:buFont typeface="Instrument Sans SemiBold"/>
              <a:buNone/>
            </a:pPr>
            <a:r>
              <a:rPr lang="en-GB" sz="4450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Index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793832" y="3054425"/>
            <a:ext cx="9489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"/>
              <a:buNone/>
            </a:pPr>
            <a:r>
              <a:rPr lang="en-GB" sz="175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01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793790" y="3409474"/>
            <a:ext cx="4196358" cy="30480"/>
          </a:xfrm>
          <a:prstGeom prst="rect">
            <a:avLst/>
          </a:prstGeom>
          <a:solidFill>
            <a:srgbClr val="84C1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793790" y="358378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200"/>
              <a:buFont typeface="Instrument Sans SemiBold"/>
              <a:buNone/>
            </a:pPr>
            <a:r>
              <a:rPr lang="en-GB" sz="2200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Introduction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5216924" y="3054424"/>
            <a:ext cx="7230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"/>
              <a:buNone/>
            </a:pPr>
            <a:r>
              <a:rPr lang="en-GB" sz="175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02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5216962" y="3409474"/>
            <a:ext cx="4196358" cy="30480"/>
          </a:xfrm>
          <a:prstGeom prst="rect">
            <a:avLst/>
          </a:prstGeom>
          <a:solidFill>
            <a:srgbClr val="84C1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5216962" y="358378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200"/>
              <a:buFont typeface="Instrument Sans SemiBold"/>
              <a:buNone/>
            </a:pPr>
            <a:r>
              <a:rPr lang="en-GB" sz="2200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Logical Architecture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9640112" y="3054425"/>
            <a:ext cx="5610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"/>
              <a:buNone/>
            </a:pPr>
            <a:r>
              <a:rPr lang="en-GB" sz="175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03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9640133" y="3409474"/>
            <a:ext cx="4196358" cy="30480"/>
          </a:xfrm>
          <a:prstGeom prst="rect">
            <a:avLst/>
          </a:prstGeom>
          <a:solidFill>
            <a:srgbClr val="84C1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9640133" y="3583781"/>
            <a:ext cx="285702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200"/>
              <a:buFont typeface="Instrument Sans SemiBold"/>
              <a:buNone/>
            </a:pPr>
            <a:r>
              <a:rPr lang="en-GB" sz="2200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Physical Architecture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793825" y="4334950"/>
            <a:ext cx="7833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"/>
              <a:buNone/>
            </a:pPr>
            <a:r>
              <a:rPr lang="en-GB" sz="175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04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793790" y="4689991"/>
            <a:ext cx="4196358" cy="30480"/>
          </a:xfrm>
          <a:prstGeom prst="rect">
            <a:avLst/>
          </a:prstGeom>
          <a:solidFill>
            <a:srgbClr val="84C1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793790" y="486429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200"/>
              <a:buFont typeface="Instrument Sans SemiBold"/>
              <a:buNone/>
            </a:pPr>
            <a:r>
              <a:rPr lang="en-GB" sz="2200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RAG Strategies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5216916" y="4334950"/>
            <a:ext cx="823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"/>
              <a:buNone/>
            </a:pPr>
            <a:r>
              <a:rPr lang="en-GB" sz="175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05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5216962" y="4689991"/>
            <a:ext cx="4196358" cy="30480"/>
          </a:xfrm>
          <a:prstGeom prst="rect">
            <a:avLst/>
          </a:prstGeom>
          <a:solidFill>
            <a:srgbClr val="84C1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5216962" y="486429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200"/>
              <a:buFont typeface="Instrument Sans SemiBold"/>
              <a:buNone/>
            </a:pPr>
            <a:r>
              <a:rPr lang="en-GB" sz="2200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Advantages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9640113" y="4334951"/>
            <a:ext cx="5610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"/>
              <a:buNone/>
            </a:pPr>
            <a:r>
              <a:rPr lang="en-GB" sz="175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06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9640133" y="4689991"/>
            <a:ext cx="4196358" cy="30480"/>
          </a:xfrm>
          <a:prstGeom prst="rect">
            <a:avLst/>
          </a:prstGeom>
          <a:solidFill>
            <a:srgbClr val="84C1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9640133" y="486429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200"/>
              <a:buFont typeface="Instrument Sans SemiBold"/>
              <a:buNone/>
            </a:pPr>
            <a:r>
              <a:rPr lang="en-GB" sz="2200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TCO &amp; Roadmap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793824" y="5615476"/>
            <a:ext cx="7833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"/>
              <a:buNone/>
            </a:pPr>
            <a:r>
              <a:rPr lang="en-GB" sz="175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07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793790" y="5970508"/>
            <a:ext cx="13042702" cy="30480"/>
          </a:xfrm>
          <a:prstGeom prst="rect">
            <a:avLst/>
          </a:prstGeom>
          <a:solidFill>
            <a:srgbClr val="84C1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793790" y="614481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200"/>
              <a:buFont typeface="Instrument Sans SemiBold"/>
              <a:buNone/>
            </a:pPr>
            <a:r>
              <a:rPr lang="en-GB" sz="2200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Conclusion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ake surrounded by trees and mountains&#10;&#10;AI-generated content may be incorrect." id="83" name="Google Shape;8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1722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"/>
          <p:cNvSpPr txBox="1"/>
          <p:nvPr/>
        </p:nvSpPr>
        <p:spPr>
          <a:xfrm>
            <a:off x="6322900" y="3556500"/>
            <a:ext cx="7477800" cy="11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6349" lvl="0" marL="8255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2800"/>
              <a:buFont typeface="Instrument Sans"/>
              <a:buNone/>
            </a:pPr>
            <a:r>
              <a:rPr b="1" lang="en-GB" sz="2800">
                <a:solidFill>
                  <a:srgbClr val="091C5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Vision</a:t>
            </a:r>
            <a:endParaRPr sz="1200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6350" lvl="0" marL="6350" marR="40640" rtl="0" algn="just">
              <a:lnSpc>
                <a:spcPct val="107000"/>
              </a:lnSpc>
              <a:spcBef>
                <a:spcPts val="2230"/>
              </a:spcBef>
              <a:spcAft>
                <a:spcPts val="0"/>
              </a:spcAft>
              <a:buClr>
                <a:srgbClr val="1E3063"/>
              </a:buClr>
              <a:buSzPts val="1800"/>
              <a:buFont typeface="Instrument Sans"/>
              <a:buNone/>
            </a:pPr>
            <a:r>
              <a:rPr b="1" lang="en-GB" sz="180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Transform from </a:t>
            </a:r>
            <a:r>
              <a:rPr b="1" lang="en-GB" sz="1800">
                <a:solidFill>
                  <a:srgbClr val="84C1F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Static Chatbot </a:t>
            </a:r>
            <a:r>
              <a:rPr b="1" lang="en-GB" sz="180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 </a:t>
            </a:r>
            <a:r>
              <a:rPr b="1" lang="en-GB" sz="1800">
                <a:solidFill>
                  <a:srgbClr val="84C1F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Sovereign Agentic Platform</a:t>
            </a:r>
            <a:endParaRPr sz="1200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5" name="Google Shape;85;p3"/>
          <p:cNvSpPr txBox="1"/>
          <p:nvPr/>
        </p:nvSpPr>
        <p:spPr>
          <a:xfrm>
            <a:off x="6322894" y="1333745"/>
            <a:ext cx="7315200" cy="18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6349" lvl="0" marL="8255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2800"/>
              <a:buFont typeface="Instrument Sans"/>
              <a:buNone/>
            </a:pPr>
            <a:r>
              <a:rPr b="1" lang="en-GB" sz="2800">
                <a:solidFill>
                  <a:srgbClr val="091C5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Use Case</a:t>
            </a:r>
            <a:endParaRPr b="1" sz="2400">
              <a:solidFill>
                <a:srgbClr val="84C1FA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6350" lvl="0" marL="6350" marR="40640" rtl="0" algn="just">
              <a:lnSpc>
                <a:spcPct val="137000"/>
              </a:lnSpc>
              <a:spcBef>
                <a:spcPts val="2230"/>
              </a:spcBef>
              <a:spcAft>
                <a:spcPts val="0"/>
              </a:spcAft>
              <a:buClr>
                <a:srgbClr val="84C1FA"/>
              </a:buClr>
              <a:buSzPts val="1800"/>
              <a:buFont typeface="Instrument Sans"/>
              <a:buNone/>
            </a:pPr>
            <a:r>
              <a:rPr b="1" lang="en-GB" sz="1800">
                <a:solidFill>
                  <a:srgbClr val="84C1F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LUXE Sector client </a:t>
            </a:r>
            <a:r>
              <a:rPr b="1" lang="en-GB" sz="180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with </a:t>
            </a:r>
            <a:r>
              <a:rPr b="1" lang="en-GB" sz="1800">
                <a:solidFill>
                  <a:srgbClr val="84C1F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25000 internal users</a:t>
            </a:r>
            <a:r>
              <a:rPr b="1" lang="en-GB" sz="180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, are using a </a:t>
            </a:r>
            <a:r>
              <a:rPr b="1" lang="en-GB" sz="1800">
                <a:solidFill>
                  <a:srgbClr val="84C1F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static chatbot </a:t>
            </a:r>
            <a:r>
              <a:rPr b="1" lang="en-GB" sz="180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that provides information but lack the capability to perform </a:t>
            </a:r>
            <a:r>
              <a:rPr b="1" lang="en-GB" sz="1800">
                <a:solidFill>
                  <a:srgbClr val="84C1F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autonomous operational actions</a:t>
            </a:r>
            <a:r>
              <a:rPr b="1" lang="en-GB" sz="180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.</a:t>
            </a:r>
            <a:endParaRPr sz="1200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6" name="Google Shape;86;p3"/>
          <p:cNvSpPr txBox="1"/>
          <p:nvPr/>
        </p:nvSpPr>
        <p:spPr>
          <a:xfrm>
            <a:off x="6322894" y="209307"/>
            <a:ext cx="7315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450">
                <a:solidFill>
                  <a:srgbClr val="091C53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 txBox="1"/>
          <p:nvPr/>
        </p:nvSpPr>
        <p:spPr>
          <a:xfrm>
            <a:off x="6322900" y="5179150"/>
            <a:ext cx="7477800" cy="18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6349" lvl="0" marL="8255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2800"/>
              <a:buFont typeface="Instrument Sans"/>
              <a:buNone/>
            </a:pPr>
            <a:r>
              <a:rPr b="1" lang="en-GB" sz="2800">
                <a:solidFill>
                  <a:srgbClr val="091C5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Objective</a:t>
            </a:r>
            <a:endParaRPr b="1" sz="2400">
              <a:solidFill>
                <a:srgbClr val="84C1FA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6350" lvl="0" marL="6350" marR="40640" rtl="0" algn="just">
              <a:lnSpc>
                <a:spcPct val="137000"/>
              </a:lnSpc>
              <a:spcBef>
                <a:spcPts val="2230"/>
              </a:spcBef>
              <a:spcAft>
                <a:spcPts val="0"/>
              </a:spcAft>
              <a:buClr>
                <a:srgbClr val="1E3063"/>
              </a:buClr>
              <a:buSzPts val="1800"/>
              <a:buFont typeface="Instrument Sans"/>
              <a:buNone/>
            </a:pPr>
            <a:r>
              <a:rPr b="1" lang="en-GB" sz="180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Create a </a:t>
            </a:r>
            <a:r>
              <a:rPr b="1" lang="en-GB" sz="1800">
                <a:solidFill>
                  <a:srgbClr val="84C1F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Sovereign Agentic-powered "Virtual Team" </a:t>
            </a:r>
            <a:r>
              <a:rPr b="1" lang="en-GB" sz="180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that </a:t>
            </a:r>
            <a:r>
              <a:rPr b="1" lang="en-GB" sz="1800">
                <a:solidFill>
                  <a:srgbClr val="84C1F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executes complex tasks </a:t>
            </a:r>
            <a:r>
              <a:rPr b="1" lang="en-GB" sz="180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while keeping the </a:t>
            </a:r>
            <a:r>
              <a:rPr b="1" lang="en-GB" sz="1800">
                <a:solidFill>
                  <a:srgbClr val="84C1F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human in the loop </a:t>
            </a:r>
            <a:r>
              <a:rPr b="1" lang="en-GB" sz="180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actions.</a:t>
            </a:r>
            <a:endParaRPr sz="1200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/>
          <p:nvPr/>
        </p:nvSpPr>
        <p:spPr>
          <a:xfrm>
            <a:off x="837085" y="426233"/>
            <a:ext cx="21264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84C1FA"/>
              </a:buClr>
              <a:buSzPts val="1650"/>
              <a:buFont typeface="Instrument Sans SemiBold"/>
              <a:buNone/>
            </a:pPr>
            <a:r>
              <a:rPr lang="en-GB" sz="1650">
                <a:solidFill>
                  <a:srgbClr val="84C1FA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Logical Architecture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837095" y="759961"/>
            <a:ext cx="125331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3300"/>
              <a:buFont typeface="Instrument Sans SemiBold"/>
              <a:buNone/>
            </a:pPr>
            <a:r>
              <a:rPr lang="en-GB" sz="3300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Logical Architecture (The "Virtual Team")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837097" y="1359561"/>
            <a:ext cx="125331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2650"/>
              <a:buFont typeface="Instrument Sans SemiBold"/>
              <a:buNone/>
            </a:pPr>
            <a:r>
              <a:rPr lang="en-GB" sz="2650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Stateful Multi-Agent Orchestration with End-to-End Observability</a:t>
            </a:r>
            <a:endParaRPr sz="2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4"/>
          <p:cNvPicPr preferRelativeResize="0"/>
          <p:nvPr/>
        </p:nvPicPr>
        <p:blipFill rotWithShape="1">
          <a:blip r:embed="rId3">
            <a:alphaModFix/>
          </a:blip>
          <a:srcRect b="12747" l="0" r="0" t="0"/>
          <a:stretch/>
        </p:blipFill>
        <p:spPr>
          <a:xfrm>
            <a:off x="1836120" y="1894086"/>
            <a:ext cx="10535053" cy="5989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717490" y="218473"/>
            <a:ext cx="22341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84C1FA"/>
              </a:buClr>
              <a:buSzPts val="1650"/>
              <a:buFont typeface="Instrument Sans SemiBold"/>
              <a:buNone/>
            </a:pPr>
            <a:r>
              <a:rPr lang="en-GB" sz="1650">
                <a:solidFill>
                  <a:srgbClr val="84C1FA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Physical Architecture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717490" y="552206"/>
            <a:ext cx="42867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3300"/>
              <a:buFont typeface="Instrument Sans SemiBold"/>
              <a:buNone/>
            </a:pPr>
            <a:r>
              <a:rPr lang="en-GB" sz="3300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Physical Architecture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717503" y="1151800"/>
            <a:ext cx="133377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2650"/>
              <a:buFont typeface="Instrument Sans SemiBold"/>
              <a:buNone/>
            </a:pPr>
            <a:r>
              <a:rPr lang="en-GB" sz="2650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Zero-Trust Serverless Enclave for Enterprise GenAI (</a:t>
            </a:r>
            <a:r>
              <a:rPr lang="en-GB" sz="2650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europe-west-9</a:t>
            </a:r>
            <a:r>
              <a:rPr lang="en-GB" sz="2650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)</a:t>
            </a:r>
            <a:endParaRPr sz="2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5" title="Screenshot 2026-01-18 at 09.44.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050" y="1729600"/>
            <a:ext cx="13776292" cy="65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"/>
          <p:cNvSpPr/>
          <p:nvPr/>
        </p:nvSpPr>
        <p:spPr>
          <a:xfrm>
            <a:off x="782241" y="616268"/>
            <a:ext cx="2654141" cy="331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84C1FA"/>
              </a:buClr>
              <a:buSzPts val="2050"/>
              <a:buFont typeface="Instrument Sans SemiBold"/>
              <a:buNone/>
            </a:pPr>
            <a:r>
              <a:rPr lang="en-GB" sz="2050">
                <a:solidFill>
                  <a:srgbClr val="84C1FA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Architecture</a:t>
            </a:r>
            <a:endParaRPr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782241" y="1032867"/>
            <a:ext cx="5308402" cy="663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01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150"/>
              <a:buFont typeface="Instrument Sans SemiBold"/>
              <a:buNone/>
            </a:pPr>
            <a:r>
              <a:rPr lang="en-GB" sz="4150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Architecture</a:t>
            </a:r>
            <a:endParaRPr sz="4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782241" y="1781294"/>
            <a:ext cx="6896814" cy="5307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3300"/>
              <a:buFont typeface="Instrument Sans SemiBold"/>
              <a:buNone/>
            </a:pPr>
            <a:r>
              <a:rPr lang="en-GB" sz="3300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Asynchronous Python native stack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782241" y="2630567"/>
            <a:ext cx="13065919" cy="339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650"/>
              <a:buFont typeface="Instrument Sans Medium"/>
              <a:buNone/>
            </a:pPr>
            <a:r>
              <a:rPr lang="en-GB" sz="16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Here's a breakdown of our technical architecture: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782241" y="2973474"/>
            <a:ext cx="31851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84C1FA"/>
              </a:buClr>
              <a:buSzPts val="2500"/>
              <a:buFont typeface="Instrument Sans SemiBold"/>
              <a:buNone/>
            </a:pPr>
            <a:r>
              <a:rPr lang="en-GB" sz="2500">
                <a:solidFill>
                  <a:srgbClr val="84C1FA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Stack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782241" y="3583788"/>
            <a:ext cx="62739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650"/>
              <a:buFont typeface="Instrument Sans Medium"/>
              <a:buChar char="•"/>
            </a:pPr>
            <a:r>
              <a:rPr b="1" lang="en-GB" sz="16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LangGraph</a:t>
            </a:r>
            <a:r>
              <a:rPr lang="en-GB" sz="16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for graph orchestration, </a:t>
            </a:r>
            <a:r>
              <a:rPr b="1" lang="en-GB" sz="16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LangChain</a:t>
            </a:r>
            <a:r>
              <a:rPr lang="en-GB" sz="16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for native tools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782241" y="4337216"/>
            <a:ext cx="62739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650"/>
              <a:buFont typeface="Instrument Sans Medium"/>
              <a:buChar char="•"/>
            </a:pPr>
            <a:r>
              <a:rPr b="1" lang="en-GB" sz="16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CrewAI</a:t>
            </a:r>
            <a:r>
              <a:rPr lang="en-GB" sz="16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for agent implementation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782241" y="4751077"/>
            <a:ext cx="62739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650"/>
              <a:buFont typeface="Instrument Sans Medium"/>
              <a:buChar char="•"/>
            </a:pPr>
            <a:r>
              <a:rPr b="1" lang="en-GB" sz="16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FastAPI</a:t>
            </a:r>
            <a:r>
              <a:rPr lang="en-GB" sz="16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for the async server runtime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782241" y="5164938"/>
            <a:ext cx="62739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650"/>
              <a:buFont typeface="Instrument Sans Medium"/>
              <a:buChar char="•"/>
            </a:pPr>
            <a:r>
              <a:rPr b="1" lang="en-GB" sz="16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FastMCP</a:t>
            </a:r>
            <a:r>
              <a:rPr lang="en-GB" sz="16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for MCP server/client services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782241" y="5578800"/>
            <a:ext cx="62739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650"/>
              <a:buFont typeface="Instrument Sans Medium"/>
              <a:buChar char="•"/>
            </a:pPr>
            <a:r>
              <a:rPr b="1" lang="en-GB" sz="16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Terraform</a:t>
            </a:r>
            <a:r>
              <a:rPr lang="en-GB" sz="16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: Infrastructure as Code</a:t>
            </a:r>
            <a:endParaRPr sz="1650">
              <a:solidFill>
                <a:srgbClr val="1E3063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7581781" y="2973474"/>
            <a:ext cx="31851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84C1FA"/>
              </a:buClr>
              <a:buSzPts val="2500"/>
              <a:buFont typeface="Instrument Sans SemiBold"/>
              <a:buNone/>
            </a:pPr>
            <a:r>
              <a:rPr lang="en-GB" sz="2500">
                <a:solidFill>
                  <a:srgbClr val="84C1FA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Observability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7581781" y="3371488"/>
            <a:ext cx="6273900" cy="10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650"/>
              <a:buFont typeface="Instrument Sans Medium"/>
              <a:buNone/>
            </a:pPr>
            <a:r>
              <a:rPr b="1" lang="en-GB" sz="16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Langfuse</a:t>
            </a:r>
            <a:r>
              <a:rPr b="1" lang="en-GB" sz="16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Monitoring</a:t>
            </a:r>
            <a:r>
              <a:rPr lang="en-GB" sz="16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traces every graph node state transition, exports logs to </a:t>
            </a:r>
            <a:r>
              <a:rPr b="1" lang="en-GB" sz="165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Cloud Logging</a:t>
            </a:r>
            <a:r>
              <a:rPr lang="en-GB" sz="16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and </a:t>
            </a:r>
            <a:r>
              <a:rPr b="1" lang="en-GB" sz="165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Grafana</a:t>
            </a:r>
            <a:r>
              <a:rPr lang="en-GB" sz="16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or (</a:t>
            </a:r>
            <a:r>
              <a:rPr b="1" lang="en-GB" sz="165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Cloud Trace</a:t>
            </a:r>
            <a:r>
              <a:rPr lang="en-GB" sz="16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) for production monitoring.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7581781" y="4761572"/>
            <a:ext cx="31851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84C1FA"/>
              </a:buClr>
              <a:buSzPts val="2500"/>
              <a:buFont typeface="Instrument Sans SemiBold"/>
              <a:buNone/>
            </a:pPr>
            <a:r>
              <a:rPr lang="en-GB" sz="2500">
                <a:solidFill>
                  <a:srgbClr val="84C1FA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Governance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7581781" y="5199015"/>
            <a:ext cx="62739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650"/>
              <a:buFont typeface="Instrument Sans Medium"/>
              <a:buNone/>
            </a:pPr>
            <a:r>
              <a:rPr b="1" lang="en-GB" sz="16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Sensitive Data Protection sidecar</a:t>
            </a:r>
            <a:r>
              <a:rPr lang="en-GB" sz="16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: (GCP managed service) for PII redaction at ingress and industry standard guard rails</a:t>
            </a:r>
            <a:endParaRPr sz="1650">
              <a:solidFill>
                <a:srgbClr val="1E3063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650"/>
              <a:buFont typeface="Instrument Sans Medium"/>
              <a:buNone/>
            </a:pPr>
            <a:r>
              <a:t/>
            </a:r>
            <a:endParaRPr sz="1650">
              <a:solidFill>
                <a:srgbClr val="1E3063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7581781" y="7354768"/>
            <a:ext cx="62739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650"/>
              <a:buFont typeface="Instrument Sans Medium"/>
              <a:buNone/>
            </a:pPr>
            <a:r>
              <a:rPr b="1" lang="en-GB" sz="16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Interrupt-based approval flow</a:t>
            </a:r>
            <a:r>
              <a:rPr lang="en-GB" sz="16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for high-risk or agent flagged actions (Human-in-Loop validated via IAP identity).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 txBox="1"/>
          <p:nvPr/>
        </p:nvSpPr>
        <p:spPr>
          <a:xfrm>
            <a:off x="7497050" y="6009300"/>
            <a:ext cx="65781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650"/>
              <a:buFont typeface="Instrument Sans Medium"/>
              <a:buNone/>
            </a:pPr>
            <a:r>
              <a:rPr b="1" lang="en-GB" sz="16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Model Armor: </a:t>
            </a:r>
            <a:r>
              <a:rPr lang="en-GB" sz="160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Intent Validation, blocking malicious "jailbreak" commands or prompt injections before they reach the LLM orchestrator.</a:t>
            </a:r>
            <a:endParaRPr b="1" sz="1600">
              <a:solidFill>
                <a:srgbClr val="1E3063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86952480f_0_92"/>
          <p:cNvSpPr/>
          <p:nvPr/>
        </p:nvSpPr>
        <p:spPr>
          <a:xfrm>
            <a:off x="793790" y="761881"/>
            <a:ext cx="4536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3550"/>
              <a:buFont typeface="Instrument Sans SemiBold"/>
              <a:buNone/>
            </a:pPr>
            <a:r>
              <a:rPr b="0" i="0" lang="en-GB" sz="3550" u="none" cap="none" strike="noStrike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RAG Strategies</a:t>
            </a:r>
            <a:endParaRPr b="0" i="0" sz="3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b86952480f_0_92"/>
          <p:cNvSpPr/>
          <p:nvPr/>
        </p:nvSpPr>
        <p:spPr>
          <a:xfrm>
            <a:off x="793800" y="1386850"/>
            <a:ext cx="133746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61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2850"/>
              <a:buFont typeface="Instrument Sans SemiBold"/>
              <a:buNone/>
            </a:pPr>
            <a:r>
              <a:rPr lang="en-GB" sz="2850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Multi-Modal Agentic RAG</a:t>
            </a:r>
            <a:endParaRPr b="0" i="0" sz="2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b86952480f_0_92"/>
          <p:cNvSpPr/>
          <p:nvPr/>
        </p:nvSpPr>
        <p:spPr>
          <a:xfrm>
            <a:off x="793790" y="2058114"/>
            <a:ext cx="130428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00"/>
              <a:buFont typeface="Instrument Sans Medium"/>
              <a:buNone/>
            </a:pPr>
            <a:r>
              <a:rPr lang="en-GB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Autonomous Multi-Source Intelligence: Orchestrating Hybrid Retrieval with Self-Correcting Logic and Enterprise-Grade Governance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5" name="Google Shape;135;g3b86952480f_0_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8" y="2808750"/>
            <a:ext cx="4362440" cy="72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3b86952480f_0_92"/>
          <p:cNvSpPr/>
          <p:nvPr/>
        </p:nvSpPr>
        <p:spPr>
          <a:xfrm>
            <a:off x="975250" y="3647203"/>
            <a:ext cx="3984600" cy="6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84C1FA"/>
              </a:buClr>
              <a:buSzPts val="1750"/>
              <a:buFont typeface="Instrument Sans SemiBold"/>
              <a:buNone/>
            </a:pPr>
            <a:r>
              <a:rPr b="0" i="0" lang="en-GB" sz="1750" u="none" cap="none" strike="noStrike">
                <a:solidFill>
                  <a:srgbClr val="84C1FA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Pattern A:</a:t>
            </a:r>
            <a:r>
              <a:rPr b="0" i="0" lang="en-GB" sz="1750" u="none" cap="none" strike="noStrike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 A</a:t>
            </a:r>
            <a:r>
              <a:rPr lang="en-GB" sz="1750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daptive </a:t>
            </a:r>
            <a:r>
              <a:rPr b="0" i="0" lang="en-GB" sz="1750" u="none" cap="none" strike="noStrike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Semantic Search</a:t>
            </a:r>
            <a:endParaRPr b="0" i="0" sz="1750" u="none" cap="none" strike="noStrike">
              <a:solidFill>
                <a:srgbClr val="1E3063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84C1FA"/>
              </a:buClr>
              <a:buSzPts val="1750"/>
              <a:buFont typeface="Instrument Sans SemiBold"/>
              <a:buNone/>
            </a:pPr>
            <a:r>
              <a:rPr lang="en-GB" sz="1750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(Unstructured)</a:t>
            </a:r>
            <a:r>
              <a:rPr b="0" i="0" lang="en-GB" sz="1750" u="none" cap="none" strike="noStrike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 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b86952480f_0_92"/>
          <p:cNvSpPr/>
          <p:nvPr/>
        </p:nvSpPr>
        <p:spPr>
          <a:xfrm>
            <a:off x="975250" y="4410850"/>
            <a:ext cx="3808800" cy="3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50">
                <a:solidFill>
                  <a:srgbClr val="84C1FA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Vector Engine</a:t>
            </a:r>
            <a:r>
              <a:rPr lang="en-GB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: Vertex AI RAG Engine using text-embedding-005 for high-dimensional accuracy.</a:t>
            </a:r>
            <a:endParaRPr>
              <a:solidFill>
                <a:srgbClr val="1E3063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E3063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50">
                <a:solidFill>
                  <a:srgbClr val="84C1FA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Chunking</a:t>
            </a:r>
            <a:r>
              <a:rPr lang="en-GB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</a:t>
            </a:r>
            <a:r>
              <a:rPr lang="en-GB" sz="1450">
                <a:solidFill>
                  <a:srgbClr val="84C1FA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Strategy</a:t>
            </a:r>
            <a:r>
              <a:rPr lang="en-GB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: Layout-Aware &amp; Semantic Chunking to preserve document hierarchy.</a:t>
            </a:r>
            <a:endParaRPr>
              <a:solidFill>
                <a:srgbClr val="1E3063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E3063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50">
                <a:solidFill>
                  <a:srgbClr val="84C1FA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Reranking</a:t>
            </a:r>
            <a:r>
              <a:rPr lang="en-GB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: Cross-Encoder Rerankernode to score the most relevant 3-5 passages, reducing "lost in the middle" hallucinations.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00"/>
              <a:buFont typeface="Instrument Sans Medium"/>
              <a:buNone/>
            </a:pPr>
            <a:r>
              <a:t/>
            </a:r>
            <a:endParaRPr>
              <a:solidFill>
                <a:srgbClr val="1E3063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pic>
        <p:nvPicPr>
          <p:cNvPr descr="preencoded.png" id="138" name="Google Shape;138;g3b86952480f_0_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88927" y="2808750"/>
            <a:ext cx="4362440" cy="72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b86952480f_0_92"/>
          <p:cNvSpPr/>
          <p:nvPr/>
        </p:nvSpPr>
        <p:spPr>
          <a:xfrm>
            <a:off x="5126400" y="3609150"/>
            <a:ext cx="4362600" cy="6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84C1FA"/>
              </a:buClr>
              <a:buSzPts val="1750"/>
              <a:buFont typeface="Instrument Sans SemiBold"/>
              <a:buNone/>
            </a:pPr>
            <a:r>
              <a:rPr b="0" i="0" lang="en-GB" sz="1750" u="none" cap="none" strike="noStrike">
                <a:solidFill>
                  <a:srgbClr val="84C1FA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Pattern B:</a:t>
            </a:r>
            <a:r>
              <a:rPr b="0" i="0" lang="en-GB" sz="1750" u="none" cap="none" strike="noStrike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 Verified Analytical Query (</a:t>
            </a:r>
            <a:r>
              <a:rPr lang="en-GB" sz="1750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Structured</a:t>
            </a:r>
            <a:r>
              <a:rPr b="0" i="0" lang="en-GB" sz="1750" u="none" cap="none" strike="noStrike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)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b86952480f_0_92"/>
          <p:cNvSpPr/>
          <p:nvPr/>
        </p:nvSpPr>
        <p:spPr>
          <a:xfrm>
            <a:off x="5105375" y="4405400"/>
            <a:ext cx="3984600" cy="3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50">
                <a:solidFill>
                  <a:srgbClr val="84C1FA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Engine</a:t>
            </a:r>
            <a:r>
              <a:rPr b="1" lang="en-GB" sz="1100">
                <a:solidFill>
                  <a:schemeClr val="dk1"/>
                </a:solidFill>
              </a:rPr>
              <a:t>: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LangChain Semantic </a:t>
            </a:r>
            <a:r>
              <a:rPr lang="en-GB" sz="1450">
                <a:solidFill>
                  <a:srgbClr val="84C1FA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Text-to-SQL </a:t>
            </a:r>
            <a:r>
              <a:rPr lang="en-GB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feeding into </a:t>
            </a:r>
            <a:r>
              <a:rPr lang="en-GB" sz="1450">
                <a:solidFill>
                  <a:srgbClr val="84C1FA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BigQuery</a:t>
            </a:r>
            <a:r>
              <a:rPr lang="en-GB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.</a:t>
            </a:r>
            <a:endParaRPr>
              <a:solidFill>
                <a:srgbClr val="1E3063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E3063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E3063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50">
                <a:solidFill>
                  <a:srgbClr val="84C1FA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Governance</a:t>
            </a:r>
            <a:r>
              <a:rPr b="1" lang="en-GB" sz="1100">
                <a:solidFill>
                  <a:schemeClr val="dk1"/>
                </a:solidFill>
              </a:rPr>
              <a:t>: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Mandatory </a:t>
            </a:r>
            <a:r>
              <a:rPr lang="en-GB" sz="1450">
                <a:solidFill>
                  <a:srgbClr val="84C1FA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Dry Run Validation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via a </a:t>
            </a:r>
            <a:r>
              <a:rPr lang="en-GB" sz="1450">
                <a:solidFill>
                  <a:srgbClr val="84C1FA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Read-Only Service Account</a:t>
            </a:r>
            <a:r>
              <a:rPr lang="en-GB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to ensure zero data-leakage.</a:t>
            </a:r>
            <a:endParaRPr>
              <a:solidFill>
                <a:srgbClr val="1E3063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E3063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50">
                <a:solidFill>
                  <a:srgbClr val="84C1FA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Few-Shot examples: </a:t>
            </a:r>
            <a:r>
              <a:rPr lang="en-GB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Uses a vector store of "Golden Query-SQL" pairs to guide the agent in generating high-accuracy queries for complex luxury inventory metrics.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00"/>
              <a:buFont typeface="Instrument Sans Medium"/>
              <a:buNone/>
            </a:pPr>
            <a:r>
              <a:t/>
            </a:r>
            <a:endParaRPr>
              <a:solidFill>
                <a:srgbClr val="1E3063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pic>
        <p:nvPicPr>
          <p:cNvPr descr="preencoded.png" id="141" name="Google Shape;141;g3b86952480f_0_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41412" y="2810444"/>
            <a:ext cx="4347568" cy="72580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3b86952480f_0_92"/>
          <p:cNvSpPr/>
          <p:nvPr/>
        </p:nvSpPr>
        <p:spPr>
          <a:xfrm>
            <a:off x="9489000" y="3598450"/>
            <a:ext cx="46794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84C1FA"/>
              </a:buClr>
              <a:buSzPts val="1750"/>
              <a:buFont typeface="Instrument Sans SemiBold"/>
              <a:buNone/>
            </a:pPr>
            <a:r>
              <a:rPr lang="en-GB" sz="1750">
                <a:solidFill>
                  <a:srgbClr val="84C1FA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Pattern C: </a:t>
            </a:r>
            <a:r>
              <a:rPr lang="en-GB" sz="1750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Hybrid</a:t>
            </a:r>
            <a:r>
              <a:rPr lang="en-GB" sz="1750">
                <a:solidFill>
                  <a:srgbClr val="84C1FA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 </a:t>
            </a:r>
            <a:r>
              <a:rPr lang="en-GB" sz="1750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Agentic Orchestrator (Cross-Source)</a:t>
            </a:r>
            <a:endParaRPr sz="1750">
              <a:solidFill>
                <a:srgbClr val="1E3063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</p:txBody>
      </p:sp>
      <p:sp>
        <p:nvSpPr>
          <p:cNvPr id="143" name="Google Shape;143;g3b86952480f_0_92"/>
          <p:cNvSpPr/>
          <p:nvPr/>
        </p:nvSpPr>
        <p:spPr>
          <a:xfrm>
            <a:off x="9488925" y="4398874"/>
            <a:ext cx="3984600" cy="3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50">
                <a:solidFill>
                  <a:srgbClr val="84C1FA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Logic</a:t>
            </a:r>
            <a:r>
              <a:rPr lang="en-GB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: LangGraph Supervisor decomposes complex multi-source requests (e.g., "Compare sales trends against last month's policy update").</a:t>
            </a:r>
            <a:endParaRPr>
              <a:solidFill>
                <a:srgbClr val="1E3063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E3063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50">
                <a:solidFill>
                  <a:srgbClr val="84C1FA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Self-Correction Loop</a:t>
            </a:r>
            <a:r>
              <a:rPr lang="en-GB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: If the initial retrieval is irrelevant, a Query Transformation node automatically rewrites the prompt and triggers a second search attempt.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00"/>
              <a:buFont typeface="Instrument Sans Medium"/>
              <a:buNone/>
            </a:pPr>
            <a:r>
              <a:t/>
            </a:r>
            <a:endParaRPr>
              <a:solidFill>
                <a:srgbClr val="1E3063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/>
          <p:nvPr/>
        </p:nvSpPr>
        <p:spPr>
          <a:xfrm>
            <a:off x="797125" y="739800"/>
            <a:ext cx="2988000" cy="4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84C1FA"/>
              </a:buClr>
              <a:buSzPts val="1650"/>
              <a:buFont typeface="Instrument Sans SemiBold"/>
              <a:buNone/>
            </a:pPr>
            <a:r>
              <a:rPr lang="en-GB" sz="1650">
                <a:solidFill>
                  <a:srgbClr val="84C1FA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Comparative Analysis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789503" y="1088827"/>
            <a:ext cx="4229457" cy="528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3300"/>
              <a:buFont typeface="Instrument Sans SemiBold"/>
              <a:buNone/>
            </a:pPr>
            <a:r>
              <a:rPr lang="en-GB" sz="3300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Advantages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797125" y="1878800"/>
            <a:ext cx="12950400" cy="48870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1017068" y="1987868"/>
            <a:ext cx="2944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000"/>
              <a:buFont typeface="Instrument Sans Medium"/>
              <a:buNone/>
            </a:pPr>
            <a:r>
              <a:rPr b="1" lang="en-GB" sz="20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Advantage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8648102" y="1987868"/>
            <a:ext cx="4634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000"/>
              <a:buFont typeface="Instrument Sans Medium"/>
              <a:buNone/>
            </a:pPr>
            <a:r>
              <a:rPr b="1" lang="en-GB" sz="20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Agentic Platform Capability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797125" y="2367550"/>
            <a:ext cx="12950400" cy="759300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1017073" y="2481293"/>
            <a:ext cx="22626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00"/>
              <a:buFont typeface="Instrument Sans Medium"/>
              <a:buNone/>
            </a:pPr>
            <a:r>
              <a:rPr b="1"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Operational Efficiency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8648102" y="2476619"/>
            <a:ext cx="46347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00"/>
              <a:buFont typeface="Instrument Sans Medium"/>
              <a:buNone/>
            </a:pPr>
            <a:r>
              <a:rPr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Agents offload L1/L2 support and operational cost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1017075" y="3316800"/>
            <a:ext cx="21435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00"/>
              <a:buFont typeface="Instrument Sans Medium"/>
              <a:buNone/>
            </a:pPr>
            <a:r>
              <a:rPr b="1"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Reduced MTTR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8648100" y="3315488"/>
            <a:ext cx="5099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00"/>
              <a:buFont typeface="Instrument Sans Medium"/>
              <a:buNone/>
            </a:pPr>
            <a:r>
              <a:rPr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Automated</a:t>
            </a:r>
            <a:r>
              <a:rPr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workflows vs manual processes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797125" y="3886325"/>
            <a:ext cx="12950400" cy="759300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1017075" y="4054120"/>
            <a:ext cx="2768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00"/>
              <a:buFont typeface="Instrument Sans Medium"/>
              <a:buNone/>
            </a:pPr>
            <a:r>
              <a:rPr b="1"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Control</a:t>
            </a:r>
            <a:endParaRPr b="1" sz="1300">
              <a:solidFill>
                <a:srgbClr val="1E3063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8648102" y="3995380"/>
            <a:ext cx="46347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00"/>
              <a:buFont typeface="Instrument Sans Medium"/>
              <a:buNone/>
            </a:pPr>
            <a:r>
              <a:rPr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100% EU Data Residency with Zero-Trust security in a serverless enclave.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797125" y="4726488"/>
            <a:ext cx="12950400" cy="75930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797125" y="5675700"/>
            <a:ext cx="12950400" cy="1029900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8648102" y="4890053"/>
            <a:ext cx="46347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00"/>
              <a:buFont typeface="Instrument Sans Medium"/>
              <a:buNone/>
            </a:pPr>
            <a:r>
              <a:rPr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Full ownership of the "AI Brain," specialized logic, and system connectors.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941475" y="4913617"/>
            <a:ext cx="30960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00"/>
              <a:buFont typeface="Instrument Sans Medium"/>
              <a:buNone/>
            </a:pPr>
            <a:r>
              <a:rPr b="1"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Sovereignty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964974" y="5999547"/>
            <a:ext cx="2652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00"/>
              <a:buFont typeface="Instrument Sans Medium"/>
              <a:buNone/>
            </a:pPr>
            <a:r>
              <a:rPr b="1"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Scalability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8648093" y="5914611"/>
            <a:ext cx="5099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00"/>
              <a:buFont typeface="Instrument Sans Medium"/>
              <a:buNone/>
            </a:pPr>
            <a:r>
              <a:rPr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Horizontal, demand-driven scaling with usage-dependent serverless costing.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/>
          <p:nvPr/>
        </p:nvSpPr>
        <p:spPr>
          <a:xfrm>
            <a:off x="793790" y="637699"/>
            <a:ext cx="2268260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84C1FA"/>
              </a:buClr>
              <a:buSzPts val="1750"/>
              <a:buFont typeface="Instrument Sans SemiBold"/>
              <a:buNone/>
            </a:pPr>
            <a:r>
              <a:rPr lang="en-GB" sz="1750">
                <a:solidFill>
                  <a:srgbClr val="84C1FA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Planification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793790" y="993696"/>
            <a:ext cx="4536519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3550"/>
              <a:buFont typeface="Instrument Sans SemiBold"/>
              <a:buNone/>
            </a:pPr>
            <a:r>
              <a:rPr lang="en-GB" sz="3550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TCO &amp; Roadmap</a:t>
            </a:r>
            <a:endParaRPr sz="3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793790" y="1832848"/>
            <a:ext cx="13042821" cy="2859881"/>
          </a:xfrm>
          <a:prstGeom prst="roundRect">
            <a:avLst>
              <a:gd fmla="val 5711" name="adj"/>
            </a:avLst>
          </a:prstGeom>
          <a:solidFill>
            <a:srgbClr val="FFFFFF"/>
          </a:solidFill>
          <a:ln cap="flat" cmpd="sng" w="22850">
            <a:solidFill>
              <a:srgbClr val="B4C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816650" y="1855708"/>
            <a:ext cx="725805" cy="2814161"/>
          </a:xfrm>
          <a:prstGeom prst="roundRect">
            <a:avLst>
              <a:gd fmla="val 18722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1723906" y="2037159"/>
            <a:ext cx="2268260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84C1FA"/>
              </a:buClr>
              <a:buSzPts val="1750"/>
              <a:buFont typeface="Instrument Sans SemiBold"/>
              <a:buNone/>
            </a:pPr>
            <a:r>
              <a:rPr lang="en-GB" sz="1750">
                <a:solidFill>
                  <a:srgbClr val="84C1FA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Build Phase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1723906" y="2429470"/>
            <a:ext cx="11908393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00"/>
              <a:buFont typeface="Instrument Sans Medium"/>
              <a:buChar char="•"/>
            </a:pPr>
            <a:r>
              <a:rPr lang="en-GB" sz="14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CapEx: Estimated Cost: </a:t>
            </a:r>
            <a:r>
              <a:rPr lang="en-GB" sz="1400">
                <a:solidFill>
                  <a:srgbClr val="84C1FA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€480K-&gt;€660K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1723906" y="2783205"/>
            <a:ext cx="11908393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00"/>
              <a:buFont typeface="Instrument Sans Medium"/>
              <a:buChar char="•"/>
            </a:pPr>
            <a:r>
              <a:rPr lang="en-GB" sz="14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3-6 months, Requires 6-7 FTE Squad: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1723906" y="3136940"/>
            <a:ext cx="3606403" cy="290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1" marL="6858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00"/>
              <a:buFont typeface="Instrument Sans Medium"/>
              <a:buChar char="•"/>
            </a:pPr>
            <a:r>
              <a:rPr lang="en-GB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1 </a:t>
            </a:r>
            <a:r>
              <a:rPr b="0" i="0" lang="en-GB" sz="140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Cloud Architect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1723906" y="3490674"/>
            <a:ext cx="3606403" cy="290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1" marL="6858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00"/>
              <a:buFont typeface="Instrument Sans Medium"/>
              <a:buChar char="•"/>
            </a:pPr>
            <a:r>
              <a:rPr lang="en-GB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2 </a:t>
            </a:r>
            <a:r>
              <a:rPr b="0" i="0" lang="en-GB" sz="140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Senior AI Engineer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1723906" y="3844409"/>
            <a:ext cx="3606403" cy="290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1" marL="6858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00"/>
              <a:buFont typeface="Instrument Sans Medium"/>
              <a:buChar char="•"/>
            </a:pPr>
            <a:r>
              <a:rPr lang="en-GB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1 </a:t>
            </a:r>
            <a:r>
              <a:rPr b="0" i="0" lang="en-GB" sz="140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Data Engineer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1723906" y="4198144"/>
            <a:ext cx="3606403" cy="290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1" marL="6858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00"/>
              <a:buFont typeface="Instrument Sans Medium"/>
              <a:buChar char="•"/>
            </a:pPr>
            <a:r>
              <a:rPr lang="en-GB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1 DevSecOps / Security Architect</a:t>
            </a:r>
            <a:endParaRPr>
              <a:solidFill>
                <a:srgbClr val="1E3063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793790" y="4874181"/>
            <a:ext cx="13042821" cy="1444943"/>
          </a:xfrm>
          <a:prstGeom prst="roundRect">
            <a:avLst>
              <a:gd fmla="val 11303" name="adj"/>
            </a:avLst>
          </a:prstGeom>
          <a:solidFill>
            <a:srgbClr val="FFFFFF"/>
          </a:solidFill>
          <a:ln cap="flat" cmpd="sng" w="22850">
            <a:solidFill>
              <a:srgbClr val="B4C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816650" y="4897041"/>
            <a:ext cx="725805" cy="1399222"/>
          </a:xfrm>
          <a:prstGeom prst="roundRect">
            <a:avLst>
              <a:gd fmla="val 18722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1723906" y="5078492"/>
            <a:ext cx="2268260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84C1FA"/>
              </a:buClr>
              <a:buSzPts val="1750"/>
              <a:buFont typeface="Instrument Sans SemiBold"/>
              <a:buNone/>
            </a:pPr>
            <a:r>
              <a:rPr lang="en-GB" sz="1750">
                <a:solidFill>
                  <a:srgbClr val="84C1FA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Run Phase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1723906" y="5470803"/>
            <a:ext cx="11908393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00"/>
              <a:buFont typeface="Instrument Sans Medium"/>
              <a:buChar char="•"/>
            </a:pPr>
            <a:r>
              <a:rPr lang="en-GB" sz="14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OpEx: Infrastructure </a:t>
            </a:r>
            <a:r>
              <a:rPr lang="en-GB" sz="1400">
                <a:solidFill>
                  <a:srgbClr val="84C1FA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€</a:t>
            </a:r>
            <a:r>
              <a:rPr lang="en-GB">
                <a:solidFill>
                  <a:srgbClr val="84C1FA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8,</a:t>
            </a:r>
            <a:r>
              <a:rPr lang="en-GB" sz="1400">
                <a:solidFill>
                  <a:srgbClr val="84C1FA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000 - €</a:t>
            </a:r>
            <a:r>
              <a:rPr lang="en-GB">
                <a:solidFill>
                  <a:srgbClr val="84C1FA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10</a:t>
            </a:r>
            <a:r>
              <a:rPr lang="en-GB" sz="1400">
                <a:solidFill>
                  <a:srgbClr val="84C1FA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,000 / month</a:t>
            </a:r>
            <a:r>
              <a:rPr lang="en-GB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in pilot phase</a:t>
            </a:r>
            <a:endParaRPr>
              <a:solidFill>
                <a:srgbClr val="1E3063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1723906" y="5824538"/>
            <a:ext cx="11908393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00"/>
              <a:buFont typeface="Instrument Sans Medium"/>
              <a:buChar char="•"/>
            </a:pPr>
            <a:r>
              <a:rPr lang="en-GB" sz="14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GCP Infrastructure + LLM Tokens for ~1k users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793790" y="6500574"/>
            <a:ext cx="13042821" cy="1091208"/>
          </a:xfrm>
          <a:prstGeom prst="roundRect">
            <a:avLst>
              <a:gd fmla="val 14967" name="adj"/>
            </a:avLst>
          </a:prstGeom>
          <a:solidFill>
            <a:srgbClr val="FFFFFF"/>
          </a:solidFill>
          <a:ln cap="flat" cmpd="sng" w="22850">
            <a:solidFill>
              <a:srgbClr val="B4C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816650" y="6523434"/>
            <a:ext cx="725805" cy="1045488"/>
          </a:xfrm>
          <a:prstGeom prst="roundRect">
            <a:avLst>
              <a:gd fmla="val 18722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1723906" y="6704886"/>
            <a:ext cx="2268260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84C1FA"/>
              </a:buClr>
              <a:buSzPts val="1750"/>
              <a:buFont typeface="Instrument Sans SemiBold"/>
              <a:buNone/>
            </a:pPr>
            <a:r>
              <a:rPr lang="en-GB" sz="1750">
                <a:solidFill>
                  <a:srgbClr val="84C1FA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Operational Team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1723906" y="7097197"/>
            <a:ext cx="11908393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00"/>
              <a:buFont typeface="Instrument Sans Medium"/>
              <a:buChar char="•"/>
            </a:pPr>
            <a:r>
              <a:rPr lang="en-GB" sz="14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Requires </a:t>
            </a:r>
            <a:r>
              <a:rPr lang="en-GB" sz="1400">
                <a:solidFill>
                  <a:srgbClr val="84C1FA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2.5 </a:t>
            </a:r>
            <a:r>
              <a:rPr lang="en-GB" sz="1400">
                <a:solidFill>
                  <a:srgbClr val="84C1FA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FTE</a:t>
            </a:r>
            <a:r>
              <a:rPr lang="en-GB" sz="14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-&gt; (Platform Engineer + </a:t>
            </a:r>
            <a:r>
              <a:rPr lang="en-GB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FinOps/Security Analyst</a:t>
            </a:r>
            <a:r>
              <a:rPr lang="en-GB" sz="14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)</a:t>
            </a:r>
            <a:r>
              <a:rPr lang="en-GB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+ 0.5</a:t>
            </a:r>
            <a:r>
              <a:rPr lang="en-GB" sz="14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</a:t>
            </a:r>
            <a:r>
              <a:rPr lang="en-GB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FTE</a:t>
            </a:r>
            <a:r>
              <a:rPr lang="en-GB" sz="14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to maintain connectors and governance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5330309" y="3182302"/>
            <a:ext cx="3606403" cy="290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1" marL="6858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00"/>
              <a:buFont typeface="Instrument Sans Medium"/>
              <a:buChar char="•"/>
            </a:pPr>
            <a:r>
              <a:rPr lang="en-GB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1 </a:t>
            </a:r>
            <a:r>
              <a:rPr b="0" i="0" lang="en-GB" sz="140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UX/Product Lead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5330309" y="3536036"/>
            <a:ext cx="3606403" cy="290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1" marL="6858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00"/>
              <a:buFont typeface="Instrument Sans Medium"/>
              <a:buChar char="•"/>
            </a:pPr>
            <a:r>
              <a:rPr lang="en-GB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1 </a:t>
            </a:r>
            <a:r>
              <a:rPr b="0" i="0" lang="en-GB" sz="140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Frontend Dev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"/>
          <p:cNvSpPr/>
          <p:nvPr/>
        </p:nvSpPr>
        <p:spPr>
          <a:xfrm>
            <a:off x="793790" y="1183243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50"/>
              <a:buFont typeface="Instrument Sans SemiBold"/>
              <a:buNone/>
            </a:pPr>
            <a:r>
              <a:rPr lang="en-GB" sz="4450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Conclusion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1" name="Google Shape;20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345650"/>
            <a:ext cx="1134070" cy="166985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0"/>
          <p:cNvSpPr/>
          <p:nvPr/>
        </p:nvSpPr>
        <p:spPr>
          <a:xfrm>
            <a:off x="2154674" y="2572464"/>
            <a:ext cx="36353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4C1FA"/>
              </a:buClr>
              <a:buSzPts val="2200"/>
              <a:buFont typeface="Instrument Sans SemiBold"/>
              <a:buNone/>
            </a:pPr>
            <a:r>
              <a:rPr lang="en-GB" sz="2200">
                <a:solidFill>
                  <a:srgbClr val="84C1FA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Agentic Workflow Platform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2154675" y="3048776"/>
            <a:ext cx="11682000" cy="11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 Medium"/>
              <a:buNone/>
            </a:pPr>
            <a:r>
              <a:rPr lang="en-GB" sz="17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Total replacement of a static chatbot. </a:t>
            </a:r>
            <a:endParaRPr sz="1750">
              <a:solidFill>
                <a:srgbClr val="1E3063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 Medium"/>
              <a:buNone/>
            </a:pPr>
            <a:r>
              <a:rPr lang="en-GB" sz="17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Activates autonomous agents with a human in the loop while preserving </a:t>
            </a:r>
            <a:r>
              <a:rPr lang="en-GB" sz="17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observability and governance. Scalable on demand and secure.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4" name="Google Shape;20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4015502"/>
            <a:ext cx="1134070" cy="166985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0"/>
          <p:cNvSpPr/>
          <p:nvPr/>
        </p:nvSpPr>
        <p:spPr>
          <a:xfrm>
            <a:off x="2154674" y="424231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4C1FA"/>
              </a:buClr>
              <a:buSzPts val="2200"/>
              <a:buFont typeface="Instrument Sans SemiBold"/>
              <a:buNone/>
            </a:pPr>
            <a:r>
              <a:rPr lang="en-GB" sz="2200">
                <a:solidFill>
                  <a:srgbClr val="84C1FA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Budget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2154674" y="4585305"/>
            <a:ext cx="1168193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 Medium"/>
              <a:buNone/>
            </a:pPr>
            <a:r>
              <a:rPr b="1" lang="en-GB" sz="17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Cost Offset</a:t>
            </a:r>
            <a:endParaRPr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 Medium"/>
              <a:buNone/>
            </a:pPr>
            <a:r>
              <a:rPr lang="en-GB" sz="17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Development budget replaces recurring 1 year for most of L1/L2 support cost.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7" name="Google Shape;20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5685353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0"/>
          <p:cNvSpPr/>
          <p:nvPr/>
        </p:nvSpPr>
        <p:spPr>
          <a:xfrm>
            <a:off x="2154673" y="575339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4C1FA"/>
              </a:buClr>
              <a:buSzPts val="2200"/>
              <a:buFont typeface="Instrument Sans SemiBold"/>
              <a:buNone/>
            </a:pPr>
            <a:r>
              <a:rPr lang="en-GB" sz="2200">
                <a:solidFill>
                  <a:srgbClr val="84C1FA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Value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2154674" y="6107727"/>
            <a:ext cx="1168193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 Medium"/>
              <a:buNone/>
            </a:pPr>
            <a:r>
              <a:rPr b="1" lang="en-GB" sz="17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Ownership</a:t>
            </a:r>
            <a:endParaRPr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 Medium"/>
              <a:buNone/>
            </a:pPr>
            <a:r>
              <a:rPr lang="en-GB" sz="17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We own the "Brain" and the "Connectors" (no Black Box SaaS).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babb943bfa_0_9"/>
          <p:cNvSpPr/>
          <p:nvPr/>
        </p:nvSpPr>
        <p:spPr>
          <a:xfrm>
            <a:off x="931200" y="1876200"/>
            <a:ext cx="12768000" cy="44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3550"/>
              <a:buFont typeface="Instrument Sans SemiBold"/>
              <a:buNone/>
            </a:pPr>
            <a:r>
              <a:rPr lang="en-GB" sz="12000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Merci</a:t>
            </a:r>
            <a:endParaRPr sz="12000">
              <a:solidFill>
                <a:srgbClr val="091C53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  <a:p>
            <a:pPr indent="0" lvl="0" marL="0" marR="0" rtl="0" algn="ctr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3550"/>
              <a:buFont typeface="Instrument Sans SemiBold"/>
              <a:buNone/>
            </a:pPr>
            <a:r>
              <a:rPr lang="en-GB" sz="7100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Q/A</a:t>
            </a:r>
            <a:endParaRPr sz="7100">
              <a:solidFill>
                <a:srgbClr val="091C53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abb943bfa_0_13"/>
          <p:cNvSpPr/>
          <p:nvPr/>
        </p:nvSpPr>
        <p:spPr>
          <a:xfrm>
            <a:off x="4783344" y="3232050"/>
            <a:ext cx="5063700" cy="1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3550"/>
              <a:buFont typeface="Instrument Sans SemiBold"/>
              <a:buNone/>
            </a:pPr>
            <a:r>
              <a:rPr lang="en-GB" sz="12000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Annex</a:t>
            </a:r>
            <a:endParaRPr sz="1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450" y="1081050"/>
            <a:ext cx="14157500" cy="606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9" name="Google Shape;229;g3b86952480f_0_59"/>
          <p:cNvGraphicFramePr/>
          <p:nvPr/>
        </p:nvGraphicFramePr>
        <p:xfrm>
          <a:off x="253516" y="7626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{5B8AAB2D-5003-4E4E-BC94-490F7A6334B2}</a:tableStyleId>
              </a:tblPr>
              <a:tblGrid>
                <a:gridCol w="2443750"/>
                <a:gridCol w="2392925"/>
                <a:gridCol w="3492325"/>
                <a:gridCol w="5049075"/>
              </a:tblGrid>
              <a:tr h="31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nstrument Sans"/>
                        <a:buNone/>
                      </a:pPr>
                      <a:r>
                        <a:rPr b="1" lang="en-GB" sz="2000" u="none" cap="none" strike="noStrike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Phase</a:t>
                      </a:r>
                      <a:endParaRPr sz="2000" u="none" cap="none" strike="noStrike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30175" marB="30175" marR="60350" marL="603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nstrument Sans"/>
                        <a:buNone/>
                      </a:pPr>
                      <a:r>
                        <a:rPr b="1" lang="en-GB" sz="2000" u="none" cap="none" strike="noStrike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Timeline</a:t>
                      </a:r>
                      <a:endParaRPr sz="2000" u="none" cap="none" strike="noStrike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30175" marB="30175" marR="60350" marL="603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nstrument Sans"/>
                        <a:buNone/>
                      </a:pPr>
                      <a:r>
                        <a:rPr b="1" lang="en-GB" sz="2000" u="none" cap="none" strike="noStrike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Key Activities</a:t>
                      </a:r>
                      <a:endParaRPr sz="2000" u="none" cap="none" strike="noStrike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30175" marB="30175" marR="60350" marL="603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nstrument Sans"/>
                        <a:buNone/>
                      </a:pPr>
                      <a:r>
                        <a:rPr b="1" lang="en-GB" sz="2000" u="none" cap="none" strike="noStrike">
                          <a:solidFill>
                            <a:schemeClr val="dk1"/>
                          </a:solidFill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Technical</a:t>
                      </a: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 </a:t>
                      </a:r>
                      <a:r>
                        <a:rPr b="1" lang="en-GB" sz="2000" u="none" cap="none" strike="noStrike">
                          <a:solidFill>
                            <a:schemeClr val="dk1"/>
                          </a:solidFill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Focus</a:t>
                      </a:r>
                      <a:endParaRPr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30175" marB="30175" marR="60350" marL="60350" anchor="ctr">
                    <a:noFill/>
                  </a:tcPr>
                </a:tc>
              </a:tr>
              <a:tr h="1000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nstrument Sans"/>
                        <a:buNone/>
                      </a:pPr>
                      <a:r>
                        <a:rPr b="1" lang="en-GB" sz="2000" u="none" cap="none" strike="noStrike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Foundation</a:t>
                      </a:r>
                      <a:endParaRPr sz="2000" u="none" cap="none" strike="noStrike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30175" marB="30175" marR="60350" marL="603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nstrument Sans"/>
                        <a:buNone/>
                      </a:pPr>
                      <a:r>
                        <a:rPr lang="en-GB" sz="18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Month 1-2</a:t>
                      </a:r>
                      <a:endParaRPr sz="18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30175" marB="30175" marR="60350" marL="603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nstrument Sans"/>
                        <a:buNone/>
                      </a:pPr>
                      <a:r>
                        <a:rPr lang="en-GB" sz="18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Setup VPC Service Controls &amp; Confidential GKE Cluster.</a:t>
                      </a:r>
                      <a:endParaRPr sz="18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30175" marB="30175" marR="60350" marL="603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Security:</a:t>
                      </a:r>
                      <a:r>
                        <a:rPr i="0" lang="en-GB" sz="1800" u="none" cap="none" strike="noStrike">
                          <a:solidFill>
                            <a:schemeClr val="dk1"/>
                          </a:solidFill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 Establishing the Zero-Trust serverless enclave in </a:t>
                      </a:r>
                      <a:r>
                        <a:rPr lang="en-GB" sz="18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europe-west-9</a:t>
                      </a:r>
                      <a:endParaRPr sz="2000" u="none" cap="none" strike="noStrike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30175" marB="30175" marR="60350" marL="60350" anchor="ctr">
                    <a:noFill/>
                  </a:tcPr>
                </a:tc>
              </a:tr>
              <a:tr h="118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nstrument Sans"/>
                        <a:buNone/>
                      </a:pPr>
                      <a:r>
                        <a:rPr b="1" lang="en-GB" sz="2000" u="none" cap="none" strike="noStrike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Logic &amp; Agents</a:t>
                      </a:r>
                      <a:endParaRPr sz="2000" u="none" cap="none" strike="noStrike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30175" marB="30175" marR="60350" marL="603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nstrument Sans"/>
                        <a:buNone/>
                      </a:pPr>
                      <a:r>
                        <a:rPr lang="en-GB" sz="2000" u="none" cap="none" strike="noStrike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Month 2-3</a:t>
                      </a:r>
                      <a:endParaRPr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30175" marB="30175" marR="60350" marL="603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1800" u="none" cap="none" strike="noStrike">
                          <a:solidFill>
                            <a:schemeClr val="dk1"/>
                          </a:solidFill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Develop the LangGraph Supervisor and specialized CrewAI agents (IT, Ops, Analyst).</a:t>
                      </a:r>
                      <a:endParaRPr sz="20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30175" marB="30175" marR="60350" marL="603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GB" sz="1800">
                          <a:solidFill>
                            <a:schemeClr val="dk1"/>
                          </a:solidFill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Orchestration:</a:t>
                      </a:r>
                      <a:r>
                        <a:rPr i="0" lang="en-GB" sz="1800">
                          <a:solidFill>
                            <a:schemeClr val="dk1"/>
                          </a:solidFill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 Implementing stateful multi-agent flows with FastAPI and LangGraph.</a:t>
                      </a:r>
                      <a:endParaRPr sz="20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GB" sz="20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</a:br>
                      <a:endParaRPr sz="20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30175" marB="30175" marR="60350" marL="60350" anchor="ctr">
                    <a:noFill/>
                  </a:tcPr>
                </a:tc>
              </a:tr>
              <a:tr h="137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nstrument Sans"/>
                        <a:buNone/>
                      </a:pPr>
                      <a:r>
                        <a:rPr b="1" lang="en-GB" sz="20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Resilience (Queue)</a:t>
                      </a:r>
                      <a:endParaRPr sz="20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30175" marB="30175" marR="60350" marL="603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nstrument Sans"/>
                        <a:buNone/>
                      </a:pPr>
                      <a:r>
                        <a:rPr lang="en-GB" sz="20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Month 3-4</a:t>
                      </a:r>
                      <a:endParaRPr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30175" marB="30175" marR="60350" marL="603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1800">
                          <a:solidFill>
                            <a:schemeClr val="dk1"/>
                          </a:solidFill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Implement Cloud Tasks for long-running (3–5 min) actions and Transient RAG processing.</a:t>
                      </a:r>
                      <a:endParaRPr sz="20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GB" sz="20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</a:br>
                      <a:endParaRPr sz="20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30175" marB="30175" marR="60350" marL="60350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Connects the Confidential GKE orchestrator to asynchronous background services for higher reliability</a:t>
                      </a:r>
                      <a:endParaRPr sz="20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30175" marB="30175" marR="60350" marL="60350" anchor="ctr">
                    <a:noFill/>
                  </a:tcPr>
                </a:tc>
              </a:tr>
              <a:tr h="82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nstrument Sans"/>
                        <a:buNone/>
                      </a:pPr>
                      <a:r>
                        <a:rPr b="1" lang="en-GB" sz="20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End-User HITL</a:t>
                      </a:r>
                      <a:endParaRPr sz="20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30175" marB="30175" marR="60350" marL="603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nstrument Sans"/>
                        <a:buNone/>
                      </a:pPr>
                      <a:r>
                        <a:rPr lang="en-GB" sz="20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Month 4-5</a:t>
                      </a:r>
                      <a:endParaRPr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30175" marB="30175" marR="60350" marL="603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i="0" lang="en-GB" sz="1800">
                          <a:solidFill>
                            <a:schemeClr val="dk1"/>
                          </a:solidFill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Integrating the </a:t>
                      </a:r>
                      <a:r>
                        <a:rPr b="1" i="0" lang="en-GB" sz="1800">
                          <a:solidFill>
                            <a:schemeClr val="dk1"/>
                          </a:solidFill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"Interrupt" UI</a:t>
                      </a:r>
                      <a:r>
                        <a:rPr i="0" lang="en-GB" sz="1800">
                          <a:solidFill>
                            <a:schemeClr val="dk1"/>
                          </a:solidFill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 to facilitate Human-in-the-Loop (HITL) approvals for high-risk actions.</a:t>
                      </a:r>
                      <a:endParaRPr sz="20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30175" marB="30175" marR="60350" marL="603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GB" sz="1800">
                          <a:solidFill>
                            <a:schemeClr val="dk1"/>
                          </a:solidFill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Governance:</a:t>
                      </a:r>
                      <a:r>
                        <a:rPr i="0" lang="en-GB" sz="1800">
                          <a:solidFill>
                            <a:schemeClr val="dk1"/>
                          </a:solidFill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 Using IAP identity to validate high-risk actions before execution</a:t>
                      </a:r>
                      <a:endParaRPr sz="20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30175" marB="30175" marR="60350" marL="60350" anchor="ctr">
                    <a:noFill/>
                  </a:tcPr>
                </a:tc>
              </a:tr>
              <a:tr h="1000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nstrument Sans"/>
                        <a:buNone/>
                      </a:pPr>
                      <a:r>
                        <a:rPr b="1" lang="en-GB" sz="20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Run Phase</a:t>
                      </a:r>
                      <a:endParaRPr sz="20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30175" marB="30175" marR="60350" marL="603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nstrument Sans"/>
                        <a:buNone/>
                      </a:pPr>
                      <a:r>
                        <a:rPr lang="en-GB" sz="20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Month 6+</a:t>
                      </a:r>
                      <a:endParaRPr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30175" marB="30175" marR="60350" marL="603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nstrument Sans"/>
                        <a:buNone/>
                      </a:pPr>
                      <a:r>
                        <a:rPr lang="en-GB" sz="20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Production rollout to 25k users with 100% EU residency.</a:t>
                      </a:r>
                      <a:endParaRPr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30175" marB="30175" marR="60350" marL="603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GB" sz="1800">
                          <a:solidFill>
                            <a:schemeClr val="dk1"/>
                          </a:solidFill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Scalability:</a:t>
                      </a:r>
                      <a:r>
                        <a:rPr i="0" lang="en-GB" sz="1800">
                          <a:solidFill>
                            <a:schemeClr val="dk1"/>
                          </a:solidFill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 Managed by horizontal, demand-driven serverless scaling via </a:t>
                      </a:r>
                      <a:r>
                        <a:rPr lang="en-GB" sz="18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Confidential GKE Autopilot</a:t>
                      </a:r>
                      <a:r>
                        <a:rPr i="0" lang="en-GB" sz="1800">
                          <a:solidFill>
                            <a:schemeClr val="dk1"/>
                          </a:solidFill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.</a:t>
                      </a:r>
                      <a:endParaRPr sz="20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GB" sz="20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</a:br>
                      <a:endParaRPr sz="20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30175" marB="30175" marR="60350" marL="60350" anchor="ctr">
                    <a:noFill/>
                  </a:tcPr>
                </a:tc>
              </a:tr>
            </a:tbl>
          </a:graphicData>
        </a:graphic>
      </p:graphicFrame>
      <p:sp>
        <p:nvSpPr>
          <p:cNvPr id="230" name="Google Shape;230;g3b86952480f_0_59"/>
          <p:cNvSpPr txBox="1"/>
          <p:nvPr/>
        </p:nvSpPr>
        <p:spPr>
          <a:xfrm>
            <a:off x="152400" y="1524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Zero</a:t>
            </a:r>
            <a:r>
              <a:rPr b="1" lang="en-GB" sz="20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Trust</a:t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g3b86952480f_0_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425" y="1139075"/>
            <a:ext cx="5754650" cy="315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3b86952480f_0_71"/>
          <p:cNvSpPr/>
          <p:nvPr/>
        </p:nvSpPr>
        <p:spPr>
          <a:xfrm>
            <a:off x="263415" y="252393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50"/>
              <a:buFont typeface="Instrument Sans SemiBold"/>
              <a:buNone/>
            </a:pPr>
            <a:r>
              <a:rPr lang="en-GB" sz="4450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Run Phase Scaling 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7" name="Google Shape;237;g3b86952480f_0_71"/>
          <p:cNvGraphicFramePr/>
          <p:nvPr/>
        </p:nvGraphicFramePr>
        <p:xfrm>
          <a:off x="6159625" y="-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{C558C3F9-6CAC-4744-8D0C-EB8345921052}</a:tableStyleId>
              </a:tblPr>
              <a:tblGrid>
                <a:gridCol w="1416300"/>
                <a:gridCol w="1468450"/>
                <a:gridCol w="4961425"/>
              </a:tblGrid>
              <a:tr h="442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Service Category</a:t>
                      </a:r>
                      <a:endParaRPr b="1"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ctr">
                    <a:lnT cap="flat" cmpd="sng" w="6350">
                      <a:solidFill>
                        <a:srgbClr val="0F9ED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F9ED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Estimated Cost</a:t>
                      </a:r>
                      <a:endParaRPr b="1"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ctr">
                    <a:lnT cap="flat" cmpd="sng" w="6350">
                      <a:solidFill>
                        <a:srgbClr val="0F9ED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F9ED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Core Purpose &amp; Governance</a:t>
                      </a:r>
                      <a:endParaRPr b="1"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ctr">
                    <a:lnT cap="flat" cmpd="sng" w="6350">
                      <a:solidFill>
                        <a:srgbClr val="0F9ED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F9ED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620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Confidential Compute</a:t>
                      </a:r>
                      <a:endParaRPr b="1"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ctr">
                    <a:lnT cap="flat" cmpd="sng" w="6350">
                      <a:solidFill>
                        <a:srgbClr val="0F9ED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€800</a:t>
                      </a:r>
                      <a:endParaRPr b="1"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ctr">
                    <a:lnT cap="flat" cmpd="sng" w="6350">
                      <a:solidFill>
                        <a:srgbClr val="0F9ED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Management fee for </a:t>
                      </a: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GKE Autopilot</a:t>
                      </a: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 and the minimum "warm" pods for the </a:t>
                      </a: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LangGraph Supervisor</a:t>
                      </a: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. Includes the premium for </a:t>
                      </a: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RAM Encryption</a:t>
                      </a: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.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ctr">
                    <a:lnT cap="flat" cmpd="sng" w="6350">
                      <a:solidFill>
                        <a:srgbClr val="0F9ED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AEDFB"/>
                    </a:solidFill>
                  </a:tcPr>
                </a:tc>
              </a:tr>
              <a:tr h="620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Knowledge Search Index</a:t>
                      </a:r>
                      <a:endParaRPr b="1"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€600</a:t>
                      </a:r>
                      <a:endParaRPr b="1"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Continuous hosting of the </a:t>
                      </a: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Vertex AI Search</a:t>
                      </a: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 vector store to ensure RAG data (Confluence/Drive) is instantly available.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ctr">
                    <a:noFill/>
                  </a:tcPr>
                </a:tc>
              </a:tr>
              <a:tr h="442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Stateful Data Tier</a:t>
                      </a:r>
                      <a:endParaRPr b="1"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ctr"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€250</a:t>
                      </a:r>
                      <a:endParaRPr b="1"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ctr"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Cloud SQL (HA)</a:t>
                      </a: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 instance for stateful multi-agent checkpointing, ensuring conversation continuity.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ctr">
                    <a:solidFill>
                      <a:srgbClr val="CAEDFB"/>
                    </a:solidFill>
                  </a:tcPr>
                </a:tc>
              </a:tr>
              <a:tr h="442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Security &amp; Perimeter</a:t>
                      </a:r>
                      <a:endParaRPr b="1"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€250</a:t>
                      </a:r>
                      <a:endParaRPr b="1"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Fixed costs for </a:t>
                      </a: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VPC Service Controls</a:t>
                      </a: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, </a:t>
                      </a: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IAP Authentication</a:t>
                      </a: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, </a:t>
                      </a: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Cloud NAT</a:t>
                      </a: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, and </a:t>
                      </a: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Secret Manager</a:t>
                      </a: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.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ctr">
                    <a:noFill/>
                  </a:tcPr>
                </a:tc>
              </a:tr>
              <a:tr h="442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Networking &amp; LB</a:t>
                      </a:r>
                      <a:endParaRPr b="1"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€</a:t>
                      </a: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470</a:t>
                      </a:r>
                      <a:endParaRPr b="1"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Global External HTTP(S) LB with US-based Anycast IP and cross-region data transfer .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ctr">
                    <a:noFill/>
                  </a:tcPr>
                </a:tc>
              </a:tr>
              <a:tr h="442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TOTAL BASELINE</a:t>
                      </a:r>
                      <a:endParaRPr b="1"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ctr">
                    <a:lnB cap="flat" cmpd="sng" w="6350">
                      <a:solidFill>
                        <a:srgbClr val="0F9ED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€2</a:t>
                      </a: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370</a:t>
                      </a:r>
                      <a:endParaRPr b="1"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ctr">
                    <a:lnB cap="flat" cmpd="sng" w="6350">
                      <a:solidFill>
                        <a:srgbClr val="0F9ED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Minimum "Sovereign Tax" for a Zero-Trust Enclave.</a:t>
                      </a:r>
                      <a:endParaRPr b="1"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ctr">
                    <a:lnB cap="flat" cmpd="sng" w="6350">
                      <a:solidFill>
                        <a:srgbClr val="0F9ED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ED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8" name="Google Shape;238;g3b86952480f_0_71"/>
          <p:cNvGraphicFramePr/>
          <p:nvPr/>
        </p:nvGraphicFramePr>
        <p:xfrm>
          <a:off x="6159600" y="379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{C558C3F9-6CAC-4744-8D0C-EB8345921052}</a:tableStyleId>
              </a:tblPr>
              <a:tblGrid>
                <a:gridCol w="771250"/>
                <a:gridCol w="1408825"/>
                <a:gridCol w="874075"/>
                <a:gridCol w="1203150"/>
                <a:gridCol w="1192875"/>
                <a:gridCol w="1192875"/>
                <a:gridCol w="1203150"/>
              </a:tblGrid>
              <a:tr h="766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Month</a:t>
                      </a:r>
                      <a:endParaRPr b="1"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Phase</a:t>
                      </a:r>
                      <a:endParaRPr b="1"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Active Users (MAU)</a:t>
                      </a:r>
                      <a:endParaRPr b="1"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Fixed Infra Baseline</a:t>
                      </a:r>
                      <a:endParaRPr b="1"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Scaling Infra Cost</a:t>
                      </a:r>
                      <a:endParaRPr b="1"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LLM Token Cost</a:t>
                      </a:r>
                      <a:endParaRPr b="1"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Total Monthly OpEx</a:t>
                      </a:r>
                      <a:endParaRPr b="1"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26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M1</a:t>
                      </a:r>
                      <a:endParaRPr b="1"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Foundation/Pilot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500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€2 370,00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€200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€3 850,00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€6 420,00</a:t>
                      </a:r>
                      <a:endParaRPr b="1"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</a:tr>
              <a:tr h="326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M2</a:t>
                      </a:r>
                      <a:endParaRPr b="1"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Early Adopters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1000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€2 370,00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€400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€7 700,00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€10 470,00</a:t>
                      </a:r>
                      <a:endParaRPr b="1"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26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M3</a:t>
                      </a:r>
                      <a:endParaRPr b="1"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Scaling (L3/Ops)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2500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€2 370,00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€1 000,00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€19 250,00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€22 620,00</a:t>
                      </a:r>
                      <a:endParaRPr b="1"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</a:tr>
              <a:tr h="326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M4</a:t>
                      </a:r>
                      <a:endParaRPr b="1"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Expansion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5000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€2 370,00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€20 000,00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€38 500,00</a:t>
                      </a:r>
                      <a:endParaRPr i="1"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€60 870,00</a:t>
                      </a:r>
                      <a:endParaRPr b="1"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26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M5</a:t>
                      </a:r>
                      <a:endParaRPr b="1"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Majority Rollout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10000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€2 370,00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€4 050,00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€51 000,00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€57 420,00</a:t>
                      </a:r>
                      <a:endParaRPr b="1"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</a:tr>
              <a:tr h="326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M6</a:t>
                      </a:r>
                      <a:endParaRPr b="1"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Full Adoption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18000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€2 370,00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€7 250,00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€73 500,00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€83 120,00</a:t>
                      </a:r>
                      <a:endParaRPr b="1"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26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M7</a:t>
                      </a:r>
                      <a:endParaRPr b="1"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Retention/Opt.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22000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€2 370,00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€8 900,00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€89 800,00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€101 070,00</a:t>
                      </a:r>
                      <a:endParaRPr b="1"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</a:tr>
              <a:tr h="326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M8</a:t>
                      </a:r>
                      <a:endParaRPr b="1"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Steady State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25000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€2 370,00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€10 100,00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€102 000,00</a:t>
                      </a:r>
                      <a:endParaRPr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€114 470,00</a:t>
                      </a:r>
                      <a:endParaRPr b="1" sz="1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EA7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3"/>
          <p:cNvSpPr/>
          <p:nvPr/>
        </p:nvSpPr>
        <p:spPr>
          <a:xfrm>
            <a:off x="1828800" y="0"/>
            <a:ext cx="10972800" cy="438912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6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45" name="Google Shape;245;p13"/>
          <p:cNvSpPr txBox="1"/>
          <p:nvPr/>
        </p:nvSpPr>
        <p:spPr>
          <a:xfrm>
            <a:off x="2377440" y="548640"/>
            <a:ext cx="9875520" cy="683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40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Operational Maturity (Day 2)</a:t>
            </a:r>
            <a:endParaRPr/>
          </a:p>
        </p:txBody>
      </p:sp>
      <p:graphicFrame>
        <p:nvGraphicFramePr>
          <p:cNvPr id="246" name="Google Shape;246;p13"/>
          <p:cNvGraphicFramePr/>
          <p:nvPr/>
        </p:nvGraphicFramePr>
        <p:xfrm>
          <a:off x="2182633" y="15361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{C558C3F9-6CAC-4744-8D0C-EB8345921052}</a:tableStyleId>
              </a:tblPr>
              <a:tblGrid>
                <a:gridCol w="2111075"/>
                <a:gridCol w="3753025"/>
                <a:gridCol w="4401050"/>
              </a:tblGrid>
              <a:tr h="575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Instrument Sans"/>
                        <a:buNone/>
                      </a:pPr>
                      <a:r>
                        <a:rPr lang="en-GB" sz="2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Capability</a:t>
                      </a:r>
                      <a:endParaRPr/>
                    </a:p>
                  </a:txBody>
                  <a:tcPr marT="57150" marB="57150" marR="114300" marL="1143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Instrument Sans"/>
                        <a:buNone/>
                      </a:pPr>
                      <a:r>
                        <a:rPr lang="en-GB" sz="2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Implementation</a:t>
                      </a:r>
                      <a:endParaRPr/>
                    </a:p>
                  </a:txBody>
                  <a:tcPr marT="57150" marB="57150" marR="114300" marL="1143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Instrument Sans"/>
                        <a:buNone/>
                      </a:pPr>
                      <a:r>
                        <a:rPr lang="en-GB" sz="2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Value</a:t>
                      </a:r>
                      <a:endParaRPr/>
                    </a:p>
                  </a:txBody>
                  <a:tcPr marT="57150" marB="57150" marR="114300" marL="114300" anchor="ctr">
                    <a:noFill/>
                  </a:tcPr>
                </a:tc>
              </a:tr>
              <a:tr h="185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Instrument Sans"/>
                        <a:buNone/>
                      </a:pPr>
                      <a:r>
                        <a:rPr b="1" lang="en-GB" sz="2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Observability</a:t>
                      </a:r>
                      <a:endParaRPr sz="2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57150" marB="57150" marR="114300" marL="1143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Instrument Sans"/>
                        <a:buNone/>
                      </a:pPr>
                      <a:r>
                        <a:rPr b="0" lang="en-GB" sz="2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Distributed Tracing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Instrument Sans"/>
                        <a:buNone/>
                      </a:pPr>
                      <a:r>
                        <a:rPr b="0" lang="en-GB" sz="2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(</a:t>
                      </a:r>
                      <a:r>
                        <a:rPr lang="en-GB" sz="2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Langfuse/opentelemtery</a:t>
                      </a:r>
                      <a:r>
                        <a:rPr b="0" lang="en-GB" sz="2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)</a:t>
                      </a:r>
                      <a:endParaRPr/>
                    </a:p>
                  </a:txBody>
                  <a:tcPr marT="57150" marB="57150" marR="114300" marL="1143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Instrument Sans"/>
                        <a:buNone/>
                      </a:pPr>
                      <a:r>
                        <a:rPr lang="en-GB" sz="2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User flagged response (</a:t>
                      </a:r>
                      <a:r>
                        <a:rPr i="1" lang="en-GB" sz="2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hallucination</a:t>
                      </a:r>
                      <a:r>
                        <a:rPr lang="en-GB" sz="2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) is traced back to the specific retrieved document or agent decision.</a:t>
                      </a:r>
                      <a:endParaRPr/>
                    </a:p>
                  </a:txBody>
                  <a:tcPr marT="57150" marB="57150" marR="114300" marL="114300" anchor="ctr">
                    <a:noFill/>
                  </a:tcPr>
                </a:tc>
              </a:tr>
              <a:tr h="185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Instrument Sans"/>
                        <a:buNone/>
                      </a:pPr>
                      <a:r>
                        <a:rPr b="1" lang="en-GB" sz="2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QA &amp; Testing</a:t>
                      </a:r>
                      <a:endParaRPr sz="2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57150" marB="57150" marR="114300" marL="1143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Instrument Sans"/>
                        <a:buNone/>
                      </a:pPr>
                      <a:r>
                        <a:rPr b="0" lang="en-GB" sz="2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"Golden Dataset" Regression + Continuous Benchmarking</a:t>
                      </a:r>
                      <a:endParaRPr/>
                    </a:p>
                  </a:txBody>
                  <a:tcPr marT="57150" marB="57150" marR="114300" marL="1143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Instrument Sans"/>
                        <a:buNone/>
                      </a:pPr>
                      <a:r>
                        <a:rPr lang="en-GB" sz="2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CI/CD pipeline runs 100+ standard questions to ensure new code doesn't degrade answer quality.</a:t>
                      </a:r>
                      <a:endParaRPr/>
                    </a:p>
                  </a:txBody>
                  <a:tcPr marT="57150" marB="57150" marR="114300" marL="114300" anchor="ctr">
                    <a:noFill/>
                  </a:tcPr>
                </a:tc>
              </a:tr>
              <a:tr h="142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Instrument Sans"/>
                        <a:buNone/>
                      </a:pPr>
                      <a:r>
                        <a:rPr b="1" lang="en-GB" sz="2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Resilience</a:t>
                      </a:r>
                      <a:endParaRPr sz="22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57150" marB="57150" marR="114300" marL="1143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Instrument Sans"/>
                        <a:buNone/>
                      </a:pPr>
                      <a:r>
                        <a:rPr b="0" lang="en-GB" sz="2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Circuit Breakers</a:t>
                      </a:r>
                      <a:endParaRPr/>
                    </a:p>
                  </a:txBody>
                  <a:tcPr marT="57150" marB="57150" marR="114300" marL="1143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Instrument Sans"/>
                        <a:buNone/>
                      </a:pPr>
                      <a:r>
                        <a:rPr lang="en-GB" sz="22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Graceful degradation if a tool (e.g., ServiceNow) is slow or down.</a:t>
                      </a:r>
                      <a:endParaRPr/>
                    </a:p>
                  </a:txBody>
                  <a:tcPr marT="57150" marB="57150" marR="114300" marL="114300"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oogle Shape;251;p14"/>
          <p:cNvGrpSpPr/>
          <p:nvPr/>
        </p:nvGrpSpPr>
        <p:grpSpPr>
          <a:xfrm>
            <a:off x="1828800" y="4118"/>
            <a:ext cx="10972799" cy="8221363"/>
            <a:chOff x="0" y="4118"/>
            <a:chExt cx="10972799" cy="8221363"/>
          </a:xfrm>
        </p:grpSpPr>
        <p:sp>
          <p:nvSpPr>
            <p:cNvPr id="252" name="Google Shape;252;p14"/>
            <p:cNvSpPr/>
            <p:nvPr/>
          </p:nvSpPr>
          <p:spPr>
            <a:xfrm rot="5400000">
              <a:off x="6669083" y="-2516651"/>
              <a:ext cx="1584840" cy="7022592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CCD3EA">
                <a:alpha val="89803"/>
              </a:srgbClr>
            </a:solidFill>
            <a:ln cap="flat" cmpd="sng" w="12700">
              <a:solidFill>
                <a:srgbClr val="CCD3EA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4"/>
            <p:cNvSpPr txBox="1"/>
            <p:nvPr/>
          </p:nvSpPr>
          <p:spPr>
            <a:xfrm>
              <a:off x="3950207" y="279591"/>
              <a:ext cx="6945226" cy="14301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3825" lIns="247650" spcFirstLastPara="1" rIns="247650" wrap="square" tIns="1238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Instrument Sans"/>
                <a:buChar char="•"/>
              </a:pPr>
              <a:r>
                <a:rPr b="1" i="0" lang="en-GB" sz="1800" u="none" cap="none" strike="noStrike">
                  <a:solidFill>
                    <a:schemeClr val="dk1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Cloud Run (Services &amp; Workers)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: 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~€600 - €800 / month</a:t>
              </a:r>
              <a:endPara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Instrument Sans"/>
                <a:buChar char="•"/>
              </a:pPr>
              <a:r>
                <a:rPr b="1" i="0" lang="en-GB" sz="1800" u="none" cap="none" strike="noStrike">
                  <a:solidFill>
                    <a:schemeClr val="dk1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Cloud Run (Jobs - Connectors)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: 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~€30 - €60 / month</a:t>
              </a:r>
              <a:endPara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  <p:sp>
          <p:nvSpPr>
            <p:cNvPr id="254" name="Google Shape;254;p14"/>
            <p:cNvSpPr/>
            <p:nvPr/>
          </p:nvSpPr>
          <p:spPr>
            <a:xfrm>
              <a:off x="0" y="4118"/>
              <a:ext cx="3950208" cy="1981051"/>
            </a:xfrm>
            <a:prstGeom prst="roundRect">
              <a:avLst>
                <a:gd fmla="val 16667" name="adj"/>
              </a:avLst>
            </a:prstGeom>
            <a:solidFill>
              <a:srgbClr val="4372C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4"/>
            <p:cNvSpPr txBox="1"/>
            <p:nvPr/>
          </p:nvSpPr>
          <p:spPr>
            <a:xfrm>
              <a:off x="96707" y="100825"/>
              <a:ext cx="3756794" cy="1787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76200" spcFirstLastPara="1" rIns="76200" wrap="square" tIns="381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Instrument Sans"/>
                <a:buNone/>
              </a:pPr>
              <a:r>
                <a:rPr b="1" i="0" lang="en-GB" sz="2000">
                  <a:solidFill>
                    <a:schemeClr val="lt1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Compute &amp; Application Hosting</a:t>
              </a:r>
              <a:endParaRPr sz="2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  <p:sp>
          <p:nvSpPr>
            <p:cNvPr id="256" name="Google Shape;256;p14"/>
            <p:cNvSpPr/>
            <p:nvPr/>
          </p:nvSpPr>
          <p:spPr>
            <a:xfrm rot="5400000">
              <a:off x="6669083" y="-436547"/>
              <a:ext cx="1584840" cy="7022592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CCD3EA">
                <a:alpha val="89803"/>
              </a:srgbClr>
            </a:solidFill>
            <a:ln cap="flat" cmpd="sng" w="12700">
              <a:solidFill>
                <a:srgbClr val="CCD3EA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4"/>
            <p:cNvSpPr txBox="1"/>
            <p:nvPr/>
          </p:nvSpPr>
          <p:spPr>
            <a:xfrm>
              <a:off x="3950207" y="2359695"/>
              <a:ext cx="6945226" cy="14301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3825" lIns="247650" spcFirstLastPara="1" rIns="247650" wrap="square" tIns="1238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Instrument Sans"/>
                <a:buChar char="•"/>
              </a:pPr>
              <a:r>
                <a:rPr b="1" i="0" lang="en-GB" sz="1800" u="none" cap="none" strike="noStrike">
                  <a:solidFill>
                    <a:srgbClr val="000000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Cloud SQL (PostgreSQL HA): ~€250 - €400 / month</a:t>
              </a:r>
              <a:endParaRPr b="1" i="0" sz="18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Instrument Sans"/>
                <a:buChar char="•"/>
              </a:pPr>
              <a:r>
                <a:rPr b="1" i="0" lang="en-GB" sz="1800" u="none" cap="none" strike="noStrike">
                  <a:solidFill>
                    <a:srgbClr val="000000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Vertex AI Search (Vector Store): ~€600 - €1,000 / month</a:t>
              </a:r>
              <a:endParaRPr b="1" i="0" sz="18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Instrument Sans"/>
                <a:buChar char="•"/>
              </a:pPr>
              <a:r>
                <a:rPr b="1" i="0" lang="en-GB" sz="1800" u="none" cap="none" strike="noStrike">
                  <a:solidFill>
                    <a:srgbClr val="000000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Cloud Storage (GCS): ~€50 - €100 / month</a:t>
              </a:r>
              <a:endParaRPr b="1" i="0" sz="18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Instrument Sans"/>
                <a:buChar char="•"/>
              </a:pPr>
              <a:r>
                <a:rPr b="1" i="0" lang="en-GB" sz="1800" u="none" cap="none" strike="noStrike">
                  <a:solidFill>
                    <a:srgbClr val="000000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Memorystore (Redis) - Optional: ~€40 - €150 / month</a:t>
              </a:r>
              <a:endParaRPr b="1" i="0" sz="18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  <p:sp>
          <p:nvSpPr>
            <p:cNvPr id="258" name="Google Shape;258;p14"/>
            <p:cNvSpPr/>
            <p:nvPr/>
          </p:nvSpPr>
          <p:spPr>
            <a:xfrm>
              <a:off x="0" y="2084222"/>
              <a:ext cx="3950208" cy="1981051"/>
            </a:xfrm>
            <a:prstGeom prst="roundRect">
              <a:avLst>
                <a:gd fmla="val 16667" name="adj"/>
              </a:avLst>
            </a:prstGeom>
            <a:solidFill>
              <a:srgbClr val="4372C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4"/>
            <p:cNvSpPr txBox="1"/>
            <p:nvPr/>
          </p:nvSpPr>
          <p:spPr>
            <a:xfrm>
              <a:off x="96707" y="2180929"/>
              <a:ext cx="3756794" cy="1787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76200" spcFirstLastPara="1" rIns="76200" wrap="square" tIns="381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Instrument Sans"/>
                <a:buNone/>
              </a:pPr>
              <a:r>
                <a:rPr b="1" i="0" lang="en-GB" sz="2000">
                  <a:solidFill>
                    <a:schemeClr val="lt1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Data &amp; Storage</a:t>
              </a:r>
              <a:endParaRPr sz="2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  <p:sp>
          <p:nvSpPr>
            <p:cNvPr id="260" name="Google Shape;260;p14"/>
            <p:cNvSpPr/>
            <p:nvPr/>
          </p:nvSpPr>
          <p:spPr>
            <a:xfrm rot="5400000">
              <a:off x="6669083" y="1643555"/>
              <a:ext cx="1584840" cy="7022592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CCD3EA">
                <a:alpha val="89803"/>
              </a:srgbClr>
            </a:solidFill>
            <a:ln cap="flat" cmpd="sng" w="12700">
              <a:solidFill>
                <a:srgbClr val="CCD3EA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4"/>
            <p:cNvSpPr txBox="1"/>
            <p:nvPr/>
          </p:nvSpPr>
          <p:spPr>
            <a:xfrm>
              <a:off x="3950207" y="4439797"/>
              <a:ext cx="6945226" cy="14301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3825" lIns="247650" spcFirstLastPara="1" rIns="247650" wrap="square" tIns="1238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Instrument Sans"/>
                <a:buChar char="•"/>
              </a:pPr>
              <a:r>
                <a:rPr b="1" i="0" lang="en-GB" sz="1800" u="none" cap="none" strike="noStrike">
                  <a:solidFill>
                    <a:srgbClr val="000000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Vertex AI (Gemini Models): ~€200 - €500 / month</a:t>
              </a:r>
              <a:endParaRPr b="1" i="0" sz="18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Instrument Sans"/>
                <a:buChar char="•"/>
              </a:pPr>
              <a:r>
                <a:rPr b="1" i="0" lang="en-GB" sz="1800" u="none" cap="none" strike="noStrike">
                  <a:solidFill>
                    <a:srgbClr val="000000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Security &amp; Networking (The "Enterprise" Premium)</a:t>
              </a:r>
              <a:endParaRPr b="1" i="0" sz="18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Instrument Sans"/>
                <a:buChar char="•"/>
              </a:pPr>
              <a:r>
                <a:rPr b="1" i="0" lang="en-GB" sz="1800" u="none" cap="none" strike="noStrike">
                  <a:solidFill>
                    <a:srgbClr val="000000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Cloud Armor + Load Balancer: ~€40 - €100 / month</a:t>
              </a:r>
              <a:endParaRPr b="1" i="0" sz="18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Instrument Sans"/>
                <a:buChar char="•"/>
              </a:pPr>
              <a:r>
                <a:rPr b="1" i="0" lang="en-GB" sz="1800" u="none" cap="none" strike="noStrike">
                  <a:solidFill>
                    <a:srgbClr val="000000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Cloud NAT: ~€50 / month</a:t>
              </a:r>
              <a:endParaRPr b="1" i="0" sz="18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Instrument Sans"/>
                <a:buChar char="•"/>
              </a:pPr>
              <a:r>
                <a:rPr b="1" i="0" lang="en-GB" sz="1800" u="none" cap="none" strike="noStrike">
                  <a:solidFill>
                    <a:srgbClr val="000000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Secret Manager &amp; KMS: ~€50 - €80 / month</a:t>
              </a:r>
              <a:endParaRPr b="1" i="0" sz="18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0" y="4164326"/>
              <a:ext cx="3950208" cy="1981051"/>
            </a:xfrm>
            <a:prstGeom prst="roundRect">
              <a:avLst>
                <a:gd fmla="val 16667" name="adj"/>
              </a:avLst>
            </a:prstGeom>
            <a:solidFill>
              <a:srgbClr val="4372C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4"/>
            <p:cNvSpPr txBox="1"/>
            <p:nvPr/>
          </p:nvSpPr>
          <p:spPr>
            <a:xfrm>
              <a:off x="96707" y="4261033"/>
              <a:ext cx="3756794" cy="1787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76200" spcFirstLastPara="1" rIns="76200" wrap="square" tIns="381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Instrument Sans"/>
                <a:buNone/>
              </a:pPr>
              <a:r>
                <a:rPr b="1" i="0" lang="en-GB" sz="2000">
                  <a:solidFill>
                    <a:schemeClr val="lt1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AI &amp; Intelligence</a:t>
              </a:r>
              <a:endParaRPr sz="2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  <p:sp>
          <p:nvSpPr>
            <p:cNvPr id="264" name="Google Shape;264;p14"/>
            <p:cNvSpPr/>
            <p:nvPr/>
          </p:nvSpPr>
          <p:spPr>
            <a:xfrm rot="5400000">
              <a:off x="6669083" y="3723659"/>
              <a:ext cx="1584840" cy="7022592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CCD3EA">
                <a:alpha val="89803"/>
              </a:srgbClr>
            </a:solidFill>
            <a:ln cap="flat" cmpd="sng" w="12700">
              <a:solidFill>
                <a:srgbClr val="CCD3EA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4"/>
            <p:cNvSpPr txBox="1"/>
            <p:nvPr/>
          </p:nvSpPr>
          <p:spPr>
            <a:xfrm>
              <a:off x="3950207" y="6519901"/>
              <a:ext cx="6945226" cy="14301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3825" lIns="247650" spcFirstLastPara="1" rIns="247650" wrap="square" tIns="1238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Instrument Sans"/>
                <a:buChar char="•"/>
              </a:pPr>
              <a:r>
                <a:rPr b="1" i="0" lang="en-GB" sz="1800" u="none" cap="none" strike="noStrike">
                  <a:solidFill>
                    <a:srgbClr val="000000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Cloud Logging &amp; Monitoring: ~€100 - €200 / month</a:t>
              </a:r>
              <a:endParaRPr b="1" i="0" sz="18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Instrument Sans"/>
                <a:buChar char="•"/>
              </a:pPr>
              <a:r>
                <a:rPr b="1" i="0" lang="en-GB" sz="1800" u="none" cap="none" strike="noStrike">
                  <a:solidFill>
                    <a:srgbClr val="000000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Dataplex (Data Quality): ~€100 - €200 / month</a:t>
              </a:r>
              <a:endParaRPr b="1" i="0" sz="18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  <p:sp>
          <p:nvSpPr>
            <p:cNvPr id="266" name="Google Shape;266;p14"/>
            <p:cNvSpPr/>
            <p:nvPr/>
          </p:nvSpPr>
          <p:spPr>
            <a:xfrm>
              <a:off x="0" y="6244430"/>
              <a:ext cx="3950208" cy="1981051"/>
            </a:xfrm>
            <a:prstGeom prst="roundRect">
              <a:avLst>
                <a:gd fmla="val 16667" name="adj"/>
              </a:avLst>
            </a:prstGeom>
            <a:solidFill>
              <a:srgbClr val="4372C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4"/>
            <p:cNvSpPr txBox="1"/>
            <p:nvPr/>
          </p:nvSpPr>
          <p:spPr>
            <a:xfrm>
              <a:off x="96707" y="6341137"/>
              <a:ext cx="3756794" cy="1787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76200" spcFirstLastPara="1" rIns="76200" wrap="square" tIns="381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Instrument Sans"/>
                <a:buNone/>
              </a:pPr>
              <a:r>
                <a:rPr b="1" i="0" lang="en-GB" sz="2000">
                  <a:solidFill>
                    <a:schemeClr val="lt1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Observability &amp; Operations</a:t>
              </a:r>
              <a:endParaRPr sz="2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b86952480f_0_1"/>
          <p:cNvSpPr/>
          <p:nvPr/>
        </p:nvSpPr>
        <p:spPr>
          <a:xfrm>
            <a:off x="717490" y="218473"/>
            <a:ext cx="22341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84C1FA"/>
              </a:buClr>
              <a:buSzPts val="1650"/>
              <a:buFont typeface="Instrument Sans SemiBold"/>
              <a:buNone/>
            </a:pPr>
            <a:r>
              <a:rPr lang="en-GB" sz="1650">
                <a:solidFill>
                  <a:srgbClr val="84C1FA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Physical Architecture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3b86952480f_0_1"/>
          <p:cNvSpPr/>
          <p:nvPr/>
        </p:nvSpPr>
        <p:spPr>
          <a:xfrm>
            <a:off x="717490" y="552206"/>
            <a:ext cx="42867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3300"/>
              <a:buFont typeface="Instrument Sans SemiBold"/>
              <a:buNone/>
            </a:pPr>
            <a:r>
              <a:rPr lang="en-GB" sz="3300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Physical Architecture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g3b86952480f_0_1"/>
          <p:cNvSpPr/>
          <p:nvPr/>
        </p:nvSpPr>
        <p:spPr>
          <a:xfrm>
            <a:off x="717503" y="1151800"/>
            <a:ext cx="133377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2650"/>
              <a:buFont typeface="Instrument Sans SemiBold"/>
              <a:buNone/>
            </a:pPr>
            <a:r>
              <a:rPr i="1" lang="en-GB" sz="2650" u="sng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Contractual</a:t>
            </a:r>
            <a:r>
              <a:rPr lang="en-GB" sz="2650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 Trust</a:t>
            </a:r>
            <a:r>
              <a:rPr lang="en-GB" sz="2650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 Serverless Enclave for Enterprise GenAI (</a:t>
            </a:r>
            <a:r>
              <a:rPr lang="en-GB" sz="2650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europe-west-9</a:t>
            </a:r>
            <a:r>
              <a:rPr lang="en-GB" sz="2650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)</a:t>
            </a:r>
            <a:endParaRPr sz="2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AI-generated content may be incorrect." id="276" name="Google Shape;276;g3b86952480f_0_1"/>
          <p:cNvPicPr preferRelativeResize="0"/>
          <p:nvPr/>
        </p:nvPicPr>
        <p:blipFill rotWithShape="1">
          <a:blip r:embed="rId3">
            <a:alphaModFix/>
          </a:blip>
          <a:srcRect b="14266" l="0" r="0" t="0"/>
          <a:stretch/>
        </p:blipFill>
        <p:spPr>
          <a:xfrm>
            <a:off x="1293933" y="2166670"/>
            <a:ext cx="12042535" cy="5968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b86952480f_0_10"/>
          <p:cNvSpPr/>
          <p:nvPr/>
        </p:nvSpPr>
        <p:spPr>
          <a:xfrm>
            <a:off x="789503" y="756880"/>
            <a:ext cx="21276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84C1FA"/>
              </a:buClr>
              <a:buSzPts val="1650"/>
              <a:buFont typeface="Instrument Sans SemiBold"/>
              <a:buNone/>
            </a:pPr>
            <a:r>
              <a:rPr lang="en-GB" sz="1650">
                <a:solidFill>
                  <a:srgbClr val="84C1FA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Analyse Comparative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b86952480f_0_10"/>
          <p:cNvSpPr/>
          <p:nvPr/>
        </p:nvSpPr>
        <p:spPr>
          <a:xfrm>
            <a:off x="789499" y="1088825"/>
            <a:ext cx="58755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3300"/>
              <a:buFont typeface="Instrument Sans SemiBold"/>
              <a:buNone/>
            </a:pPr>
            <a:r>
              <a:rPr lang="en-GB" sz="3300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Advantages</a:t>
            </a:r>
            <a:r>
              <a:rPr i="1" lang="en-GB" sz="2500" u="sng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(</a:t>
            </a:r>
            <a:r>
              <a:rPr i="1" lang="en-GB" sz="2500" u="sng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Contractual)</a:t>
            </a:r>
            <a:endParaRPr i="1" sz="25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b86952480f_0_10"/>
          <p:cNvSpPr/>
          <p:nvPr/>
        </p:nvSpPr>
        <p:spPr>
          <a:xfrm>
            <a:off x="789503" y="1871186"/>
            <a:ext cx="13051500" cy="5601600"/>
          </a:xfrm>
          <a:prstGeom prst="roundRect">
            <a:avLst>
              <a:gd fmla="val 2718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b86952480f_0_10"/>
          <p:cNvSpPr/>
          <p:nvPr/>
        </p:nvSpPr>
        <p:spPr>
          <a:xfrm>
            <a:off x="797123" y="1878806"/>
            <a:ext cx="13036200" cy="4887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b86952480f_0_10"/>
          <p:cNvSpPr/>
          <p:nvPr/>
        </p:nvSpPr>
        <p:spPr>
          <a:xfrm>
            <a:off x="966311" y="1987868"/>
            <a:ext cx="22653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000"/>
              <a:buFont typeface="Instrument Sans Medium"/>
              <a:buNone/>
            </a:pPr>
            <a:r>
              <a:rPr b="1" lang="en-GB" sz="20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Advantage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b86952480f_0_10"/>
          <p:cNvSpPr/>
          <p:nvPr/>
        </p:nvSpPr>
        <p:spPr>
          <a:xfrm>
            <a:off x="3577350" y="1987876"/>
            <a:ext cx="3258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000"/>
              <a:buFont typeface="Instrument Sans Medium"/>
              <a:buNone/>
            </a:pPr>
            <a:r>
              <a:rPr b="1" lang="en-GB" sz="20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Static Chatbot (Current)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b86952480f_0_10"/>
          <p:cNvSpPr/>
          <p:nvPr/>
        </p:nvSpPr>
        <p:spPr>
          <a:xfrm>
            <a:off x="6836331" y="1987868"/>
            <a:ext cx="3565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000"/>
              <a:buFont typeface="Instrument Sans Medium"/>
              <a:buNone/>
            </a:pPr>
            <a:r>
              <a:rPr b="1" lang="en-GB" sz="20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Agentic Platform Capability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b86952480f_0_10"/>
          <p:cNvSpPr/>
          <p:nvPr/>
        </p:nvSpPr>
        <p:spPr>
          <a:xfrm>
            <a:off x="10747177" y="1987868"/>
            <a:ext cx="2916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000"/>
              <a:buFont typeface="Instrument Sans Medium"/>
              <a:buNone/>
            </a:pPr>
            <a:r>
              <a:rPr b="1" lang="en-GB" sz="20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Architectural Solution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3b86952480f_0_10"/>
          <p:cNvSpPr/>
          <p:nvPr/>
        </p:nvSpPr>
        <p:spPr>
          <a:xfrm>
            <a:off x="797123" y="2367558"/>
            <a:ext cx="13036200" cy="7593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b86952480f_0_10"/>
          <p:cNvSpPr/>
          <p:nvPr/>
        </p:nvSpPr>
        <p:spPr>
          <a:xfrm>
            <a:off x="966311" y="2476619"/>
            <a:ext cx="22653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00"/>
              <a:buFont typeface="Instrument Sans Medium"/>
              <a:buNone/>
            </a:pPr>
            <a:r>
              <a:rPr b="1"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Operational Efficiency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b86952480f_0_10"/>
          <p:cNvSpPr/>
          <p:nvPr/>
        </p:nvSpPr>
        <p:spPr>
          <a:xfrm>
            <a:off x="3577352" y="2476619"/>
            <a:ext cx="29133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00"/>
              <a:buFont typeface="Instrument Sans Medium"/>
              <a:buNone/>
            </a:pPr>
            <a:r>
              <a:rPr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High L1/L2 support costs (€1M+ annually) for 25k users.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b86952480f_0_10"/>
          <p:cNvSpPr/>
          <p:nvPr/>
        </p:nvSpPr>
        <p:spPr>
          <a:xfrm>
            <a:off x="6836331" y="2476619"/>
            <a:ext cx="35652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00"/>
              <a:buFont typeface="Instrument Sans Medium"/>
              <a:buNone/>
            </a:pPr>
            <a:r>
              <a:rPr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Agents offload L1/L2 support and operational actions and their recurrent cost.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b86952480f_0_10"/>
          <p:cNvSpPr/>
          <p:nvPr/>
        </p:nvSpPr>
        <p:spPr>
          <a:xfrm>
            <a:off x="10747177" y="2476619"/>
            <a:ext cx="29169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00"/>
              <a:buFont typeface="Instrument Sans Medium"/>
              <a:buNone/>
            </a:pPr>
            <a:r>
              <a:rPr b="1"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Supervisor (LangGraph)</a:t>
            </a:r>
            <a:r>
              <a:rPr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&amp; </a:t>
            </a:r>
            <a:r>
              <a:rPr b="1"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CrewAI Agents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3b86952480f_0_10"/>
          <p:cNvSpPr/>
          <p:nvPr/>
        </p:nvSpPr>
        <p:spPr>
          <a:xfrm>
            <a:off x="797123" y="3126938"/>
            <a:ext cx="13036200" cy="7593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b86952480f_0_10"/>
          <p:cNvSpPr/>
          <p:nvPr/>
        </p:nvSpPr>
        <p:spPr>
          <a:xfrm>
            <a:off x="966311" y="3236000"/>
            <a:ext cx="22653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00"/>
              <a:buFont typeface="Instrument Sans Medium"/>
              <a:buNone/>
            </a:pPr>
            <a:r>
              <a:rPr b="1"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Reduced MTTR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b86952480f_0_10"/>
          <p:cNvSpPr/>
          <p:nvPr/>
        </p:nvSpPr>
        <p:spPr>
          <a:xfrm>
            <a:off x="3577352" y="3236000"/>
            <a:ext cx="29133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00"/>
              <a:buFont typeface="Instrument Sans Medium"/>
              <a:buNone/>
            </a:pPr>
            <a:r>
              <a:rPr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Response and resolution times are bottlenecked by human intervention.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b86952480f_0_10"/>
          <p:cNvSpPr/>
          <p:nvPr/>
        </p:nvSpPr>
        <p:spPr>
          <a:xfrm>
            <a:off x="6836331" y="3236000"/>
            <a:ext cx="35652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00"/>
              <a:buFont typeface="Instrument Sans Medium"/>
              <a:buNone/>
            </a:pPr>
            <a:r>
              <a:rPr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Faster response times with minimal human intervention through automated workflows.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b86952480f_0_10"/>
          <p:cNvSpPr/>
          <p:nvPr/>
        </p:nvSpPr>
        <p:spPr>
          <a:xfrm>
            <a:off x="10747177" y="3236000"/>
            <a:ext cx="29169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00"/>
              <a:buFont typeface="Instrument Sans Medium"/>
              <a:buNone/>
            </a:pPr>
            <a:r>
              <a:rPr b="1"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Supervisor (LangGraph)</a:t>
            </a:r>
            <a:r>
              <a:rPr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&amp; </a:t>
            </a:r>
            <a:r>
              <a:rPr b="1"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CrewAI Agents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b86952480f_0_10"/>
          <p:cNvSpPr/>
          <p:nvPr/>
        </p:nvSpPr>
        <p:spPr>
          <a:xfrm>
            <a:off x="797123" y="3886319"/>
            <a:ext cx="13036200" cy="10299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b86952480f_0_10"/>
          <p:cNvSpPr/>
          <p:nvPr/>
        </p:nvSpPr>
        <p:spPr>
          <a:xfrm>
            <a:off x="966311" y="3995380"/>
            <a:ext cx="22653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00"/>
              <a:buFont typeface="Instrument Sans Medium"/>
              <a:buNone/>
            </a:pPr>
            <a:r>
              <a:rPr b="1"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Data Sovereignty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b86952480f_0_10"/>
          <p:cNvSpPr/>
          <p:nvPr/>
        </p:nvSpPr>
        <p:spPr>
          <a:xfrm>
            <a:off x="3577352" y="3995380"/>
            <a:ext cx="2913300" cy="8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00"/>
              <a:buFont typeface="Instrument Sans Medium"/>
              <a:buNone/>
            </a:pPr>
            <a:r>
              <a:rPr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Reliance on "Black Box" SaaS with vague GDPR and data residency controls.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b86952480f_0_10"/>
          <p:cNvSpPr/>
          <p:nvPr/>
        </p:nvSpPr>
        <p:spPr>
          <a:xfrm>
            <a:off x="6836331" y="3995380"/>
            <a:ext cx="35652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00"/>
              <a:buFont typeface="Instrument Sans Medium"/>
              <a:buNone/>
            </a:pPr>
            <a:r>
              <a:rPr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100% EU Data Residency with Zero-Trust security in a serverless enclave.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3b86952480f_0_10"/>
          <p:cNvSpPr/>
          <p:nvPr/>
        </p:nvSpPr>
        <p:spPr>
          <a:xfrm>
            <a:off x="10747177" y="3995380"/>
            <a:ext cx="2916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00"/>
              <a:buFont typeface="Instrument Sans Medium"/>
              <a:buNone/>
            </a:pPr>
            <a:r>
              <a:rPr b="1"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VPC Service Control</a:t>
            </a:r>
            <a:r>
              <a:rPr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(</a:t>
            </a:r>
            <a:r>
              <a:rPr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europe-west-9</a:t>
            </a:r>
            <a:r>
              <a:rPr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3b86952480f_0_10"/>
          <p:cNvSpPr/>
          <p:nvPr/>
        </p:nvSpPr>
        <p:spPr>
          <a:xfrm>
            <a:off x="797123" y="4916329"/>
            <a:ext cx="13036200" cy="7593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b86952480f_0_10"/>
          <p:cNvSpPr/>
          <p:nvPr/>
        </p:nvSpPr>
        <p:spPr>
          <a:xfrm>
            <a:off x="966311" y="5025390"/>
            <a:ext cx="22653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00"/>
              <a:buFont typeface="Instrument Sans Medium"/>
              <a:buNone/>
            </a:pPr>
            <a:r>
              <a:rPr b="1"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System Ownership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g3b86952480f_0_10"/>
          <p:cNvSpPr/>
          <p:nvPr/>
        </p:nvSpPr>
        <p:spPr>
          <a:xfrm>
            <a:off x="3577352" y="5025390"/>
            <a:ext cx="29133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00"/>
              <a:buFont typeface="Instrument Sans Medium"/>
              <a:buNone/>
            </a:pPr>
            <a:r>
              <a:rPr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Renting a platform where the reasoning logic is a vendor secret.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3b86952480f_0_10"/>
          <p:cNvSpPr/>
          <p:nvPr/>
        </p:nvSpPr>
        <p:spPr>
          <a:xfrm>
            <a:off x="6836331" y="5025390"/>
            <a:ext cx="35652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00"/>
              <a:buFont typeface="Instrument Sans Medium"/>
              <a:buNone/>
            </a:pPr>
            <a:r>
              <a:rPr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Full ownership of the "AI Brain," specialized logic, and system connectors.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3b86952480f_0_10"/>
          <p:cNvSpPr/>
          <p:nvPr/>
        </p:nvSpPr>
        <p:spPr>
          <a:xfrm>
            <a:off x="10747177" y="5025390"/>
            <a:ext cx="29169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00"/>
              <a:buFont typeface="Instrument Sans Medium"/>
              <a:buNone/>
            </a:pPr>
            <a:r>
              <a:rPr b="1"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FastAPI Native Stack</a:t>
            </a:r>
            <a:r>
              <a:rPr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&amp; </a:t>
            </a:r>
            <a:r>
              <a:rPr b="1"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FastMCP Connectors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g3b86952480f_0_10"/>
          <p:cNvSpPr/>
          <p:nvPr/>
        </p:nvSpPr>
        <p:spPr>
          <a:xfrm>
            <a:off x="797123" y="5675709"/>
            <a:ext cx="13036200" cy="10299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3b86952480f_0_10"/>
          <p:cNvSpPr/>
          <p:nvPr/>
        </p:nvSpPr>
        <p:spPr>
          <a:xfrm>
            <a:off x="966311" y="5784771"/>
            <a:ext cx="22653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00"/>
              <a:buFont typeface="Instrument Sans Medium"/>
              <a:buNone/>
            </a:pPr>
            <a:r>
              <a:rPr b="1"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Security &amp; Privacy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b86952480f_0_10"/>
          <p:cNvSpPr/>
          <p:nvPr/>
        </p:nvSpPr>
        <p:spPr>
          <a:xfrm>
            <a:off x="3577352" y="5784771"/>
            <a:ext cx="2913300" cy="8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00"/>
              <a:buFont typeface="Instrument Sans Medium"/>
              <a:buNone/>
            </a:pPr>
            <a:r>
              <a:rPr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Limited ability to filter or redact sensitive data before LLM processing.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3b86952480f_0_10"/>
          <p:cNvSpPr/>
          <p:nvPr/>
        </p:nvSpPr>
        <p:spPr>
          <a:xfrm>
            <a:off x="6836331" y="5784771"/>
            <a:ext cx="35652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00"/>
              <a:buFont typeface="Instrument Sans Medium"/>
              <a:buNone/>
            </a:pPr>
            <a:r>
              <a:rPr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Integrated PII redaction and identity propagation for secure operations.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3b86952480f_0_10"/>
          <p:cNvSpPr/>
          <p:nvPr/>
        </p:nvSpPr>
        <p:spPr>
          <a:xfrm>
            <a:off x="10747177" y="5784771"/>
            <a:ext cx="2916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00"/>
              <a:buFont typeface="Instrument Sans Medium"/>
              <a:buNone/>
            </a:pPr>
            <a:r>
              <a:rPr b="1"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Cloud SDP</a:t>
            </a:r>
            <a:r>
              <a:rPr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&amp; </a:t>
            </a:r>
            <a:r>
              <a:rPr b="1"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IAP Authentication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b86952480f_0_10"/>
          <p:cNvSpPr/>
          <p:nvPr/>
        </p:nvSpPr>
        <p:spPr>
          <a:xfrm>
            <a:off x="797123" y="6705719"/>
            <a:ext cx="13036200" cy="7593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g3b86952480f_0_10"/>
          <p:cNvSpPr/>
          <p:nvPr/>
        </p:nvSpPr>
        <p:spPr>
          <a:xfrm>
            <a:off x="966311" y="6814780"/>
            <a:ext cx="22653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00"/>
              <a:buFont typeface="Instrument Sans Medium"/>
              <a:buNone/>
            </a:pPr>
            <a:r>
              <a:rPr b="1"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Scalable TCO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3b86952480f_0_10"/>
          <p:cNvSpPr/>
          <p:nvPr/>
        </p:nvSpPr>
        <p:spPr>
          <a:xfrm>
            <a:off x="3577352" y="6814780"/>
            <a:ext cx="29133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00"/>
              <a:buFont typeface="Instrument Sans Medium"/>
              <a:buNone/>
            </a:pPr>
            <a:r>
              <a:rPr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Inflexible scaling; costs don't align perfectly with actual usage.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g3b86952480f_0_10"/>
          <p:cNvSpPr/>
          <p:nvPr/>
        </p:nvSpPr>
        <p:spPr>
          <a:xfrm>
            <a:off x="6836331" y="6814780"/>
            <a:ext cx="35652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00"/>
              <a:buFont typeface="Instrument Sans Medium"/>
              <a:buNone/>
            </a:pPr>
            <a:r>
              <a:rPr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Horizontal, demand-driven scaling with usage-dependent serverless costing.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g3b86952480f_0_10"/>
          <p:cNvSpPr/>
          <p:nvPr/>
        </p:nvSpPr>
        <p:spPr>
          <a:xfrm>
            <a:off x="10747177" y="6814780"/>
            <a:ext cx="2916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00"/>
              <a:buFont typeface="Instrument Sans Medium"/>
              <a:buNone/>
            </a:pPr>
            <a:r>
              <a:rPr b="1"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Cloud Run</a:t>
            </a:r>
            <a:r>
              <a:rPr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&amp; </a:t>
            </a:r>
            <a:r>
              <a:rPr b="1" lang="en-GB" sz="13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Serverless Scaling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4" name="Google Shape;324;p12"/>
          <p:cNvGraphicFramePr/>
          <p:nvPr/>
        </p:nvGraphicFramePr>
        <p:xfrm>
          <a:off x="556591" y="10007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{5B8AAB2D-5003-4E4E-BC94-490F7A6334B2}</a:tableStyleId>
              </a:tblPr>
              <a:tblGrid>
                <a:gridCol w="2443750"/>
                <a:gridCol w="2392925"/>
                <a:gridCol w="3492325"/>
                <a:gridCol w="5049075"/>
              </a:tblGrid>
              <a:tr h="31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nstrument Sans"/>
                        <a:buNone/>
                      </a:pPr>
                      <a:r>
                        <a:rPr b="1" lang="en-GB" sz="2000" u="none" cap="none" strike="noStrike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Phase</a:t>
                      </a:r>
                      <a:endParaRPr sz="2000" u="none" cap="none" strike="noStrike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30175" marB="30175" marR="60350" marL="603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nstrument Sans"/>
                        <a:buNone/>
                      </a:pPr>
                      <a:r>
                        <a:rPr b="1" lang="en-GB" sz="2000" u="none" cap="none" strike="noStrike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Timeline</a:t>
                      </a:r>
                      <a:endParaRPr sz="2000" u="none" cap="none" strike="noStrike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30175" marB="30175" marR="60350" marL="603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nstrument Sans"/>
                        <a:buNone/>
                      </a:pPr>
                      <a:r>
                        <a:rPr b="1" lang="en-GB" sz="2000" u="none" cap="none" strike="noStrike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Key Activities</a:t>
                      </a:r>
                      <a:endParaRPr sz="2000" u="none" cap="none" strike="noStrike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30175" marB="30175" marR="60350" marL="603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nstrument Sans"/>
                        <a:buNone/>
                      </a:pPr>
                      <a:r>
                        <a:rPr b="1" lang="en-GB" sz="2000" u="none" cap="none" strike="noStrike">
                          <a:solidFill>
                            <a:schemeClr val="dk1"/>
                          </a:solidFill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Technical</a:t>
                      </a: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b="1" lang="en-GB" sz="2000" u="none" cap="none" strike="noStrike">
                          <a:solidFill>
                            <a:schemeClr val="dk1"/>
                          </a:solidFill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Focus</a:t>
                      </a:r>
                      <a:endParaRPr/>
                    </a:p>
                  </a:txBody>
                  <a:tcPr marT="30175" marB="30175" marR="60350" marL="60350" anchor="ctr">
                    <a:noFill/>
                  </a:tcPr>
                </a:tc>
              </a:tr>
              <a:tr h="1000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nstrument Sans"/>
                        <a:buNone/>
                      </a:pPr>
                      <a:r>
                        <a:rPr b="1" lang="en-GB" sz="2000" u="none" cap="none" strike="noStrike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Foundation</a:t>
                      </a:r>
                      <a:endParaRPr sz="2000" u="none" cap="none" strike="noStrike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30175" marB="30175" marR="60350" marL="603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nstrument Sans"/>
                        <a:buNone/>
                      </a:pPr>
                      <a:r>
                        <a:rPr lang="en-GB" sz="2000" u="none" cap="none" strike="noStrike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Month 1-2</a:t>
                      </a:r>
                      <a:endParaRPr/>
                    </a:p>
                  </a:txBody>
                  <a:tcPr marT="30175" marB="30175" marR="60350" marL="603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nstrument Sans"/>
                        <a:buNone/>
                      </a:pPr>
                      <a:r>
                        <a:rPr lang="en-GB" sz="2000" u="none" cap="none" strike="noStrike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Setup GCP Landing Zone, VPC Service Controls, and IAP Auth)</a:t>
                      </a:r>
                      <a:endParaRPr/>
                    </a:p>
                  </a:txBody>
                  <a:tcPr marT="30175" marB="30175" marR="60350" marL="603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Security:</a:t>
                      </a:r>
                      <a:r>
                        <a:rPr b="0" i="0" lang="en-GB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Establishing the Zero-Trust serverless enclave in </a:t>
                      </a:r>
                      <a:r>
                        <a:rPr lang="en-GB" sz="1800"/>
                        <a:t>europe-west-9</a:t>
                      </a:r>
                      <a:endParaRPr sz="2000" u="none" cap="none" strike="noStrike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30175" marB="30175" marR="60350" marL="60350" anchor="ctr">
                    <a:noFill/>
                  </a:tcPr>
                </a:tc>
              </a:tr>
              <a:tr h="118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nstrument Sans"/>
                        <a:buNone/>
                      </a:pPr>
                      <a:r>
                        <a:rPr b="1" lang="en-GB" sz="2000" u="none" cap="none" strike="noStrike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Logic &amp; Agents</a:t>
                      </a:r>
                      <a:endParaRPr sz="2000" u="none" cap="none" strike="noStrike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30175" marB="30175" marR="60350" marL="603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nstrument Sans"/>
                        <a:buNone/>
                      </a:pPr>
                      <a:r>
                        <a:rPr lang="en-GB" sz="2000" u="none" cap="none" strike="noStrike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Month 2-3</a:t>
                      </a:r>
                      <a:endParaRPr/>
                    </a:p>
                  </a:txBody>
                  <a:tcPr marT="30175" marB="30175" marR="60350" marL="603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Develop the LangGraph Supervisor and specialized CrewAI agents (IT, Ops, Analyst).</a:t>
                      </a:r>
                      <a:endParaRPr sz="2000"/>
                    </a:p>
                  </a:txBody>
                  <a:tcPr marT="30175" marB="30175" marR="60350" marL="603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GB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Orchestration:</a:t>
                      </a:r>
                      <a:r>
                        <a:rPr b="0" i="0" lang="en-GB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Implementing stateful multi-agent flows with FastAPI and LangGraph.</a:t>
                      </a:r>
                      <a:endParaRPr sz="2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GB" sz="2000"/>
                      </a:br>
                      <a:endParaRPr sz="20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30175" marB="30175" marR="60350" marL="60350" anchor="ctr">
                    <a:noFill/>
                  </a:tcPr>
                </a:tc>
              </a:tr>
              <a:tr h="137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nstrument Sans"/>
                        <a:buNone/>
                      </a:pPr>
                      <a:r>
                        <a:rPr b="1" lang="en-GB" sz="20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Resilience (Queue)</a:t>
                      </a:r>
                      <a:endParaRPr sz="20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30175" marB="30175" marR="60350" marL="603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nstrument Sans"/>
                        <a:buNone/>
                      </a:pPr>
                      <a:r>
                        <a:rPr lang="en-GB" sz="20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Month 3-4</a:t>
                      </a:r>
                      <a:endParaRPr/>
                    </a:p>
                  </a:txBody>
                  <a:tcPr marT="30175" marB="30175" marR="60350" marL="603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 Cloud Tasks for long-running (3–5 min) actions and Transient RAG processing.</a:t>
                      </a:r>
                      <a:endParaRPr sz="2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GB" sz="2000"/>
                      </a:br>
                      <a:endParaRPr sz="20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30175" marB="30175" marR="60350" marL="60350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Connects the Cloud Run orchestrator to asynchronous background services for higher reliability</a:t>
                      </a:r>
                      <a:endParaRPr sz="20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30175" marB="30175" marR="60350" marL="60350" anchor="ctr">
                    <a:noFill/>
                  </a:tcPr>
                </a:tc>
              </a:tr>
              <a:tr h="82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nstrument Sans"/>
                        <a:buNone/>
                      </a:pPr>
                      <a:r>
                        <a:rPr b="1" lang="en-GB" sz="20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End-User HITL</a:t>
                      </a:r>
                      <a:endParaRPr sz="20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30175" marB="30175" marR="60350" marL="603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nstrument Sans"/>
                        <a:buNone/>
                      </a:pPr>
                      <a:r>
                        <a:rPr lang="en-GB" sz="20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Month 4-5</a:t>
                      </a:r>
                      <a:endParaRPr/>
                    </a:p>
                  </a:txBody>
                  <a:tcPr marT="30175" marB="30175" marR="60350" marL="603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GB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Integrating the </a:t>
                      </a:r>
                      <a:r>
                        <a:rPr b="1" i="0" lang="en-GB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"Interrupt" UI</a:t>
                      </a:r>
                      <a:r>
                        <a:rPr b="0" i="0" lang="en-GB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to facilitate Human-in-the-Loop (HITL) approvals for high-risk actions.</a:t>
                      </a:r>
                      <a:endParaRPr sz="20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30175" marB="30175" marR="60350" marL="603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GB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Governance:</a:t>
                      </a:r>
                      <a:r>
                        <a:rPr b="0" i="0" lang="en-GB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Using IAP identity to validate high-risk actions before execution</a:t>
                      </a:r>
                      <a:endParaRPr sz="20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30175" marB="30175" marR="60350" marL="60350" anchor="ctr">
                    <a:noFill/>
                  </a:tcPr>
                </a:tc>
              </a:tr>
              <a:tr h="1000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nstrument Sans"/>
                        <a:buNone/>
                      </a:pPr>
                      <a:r>
                        <a:rPr b="1" lang="en-GB" sz="20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Run Phase</a:t>
                      </a:r>
                      <a:endParaRPr sz="20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30175" marB="30175" marR="60350" marL="603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nstrument Sans"/>
                        <a:buNone/>
                      </a:pPr>
                      <a:r>
                        <a:rPr lang="en-GB" sz="20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Month 6+</a:t>
                      </a:r>
                      <a:endParaRPr/>
                    </a:p>
                  </a:txBody>
                  <a:tcPr marT="30175" marB="30175" marR="60350" marL="603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nstrument Sans"/>
                        <a:buNone/>
                      </a:pPr>
                      <a:r>
                        <a:rPr lang="en-GB" sz="20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Production rollout to 25k users with 100% EU residency.</a:t>
                      </a:r>
                      <a:endParaRPr/>
                    </a:p>
                  </a:txBody>
                  <a:tcPr marT="30175" marB="30175" marR="60350" marL="603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GB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Scalability:</a:t>
                      </a:r>
                      <a:r>
                        <a:rPr b="0" i="0" lang="en-GB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Managed by horizontal, demand-driven serverless scaling via Cloud Run.</a:t>
                      </a:r>
                      <a:endParaRPr sz="2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GB" sz="2000"/>
                      </a:br>
                      <a:endParaRPr sz="20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30175" marB="30175" marR="60350" marL="60350" anchor="ctr">
                    <a:noFill/>
                  </a:tcPr>
                </a:tc>
              </a:tr>
            </a:tbl>
          </a:graphicData>
        </a:graphic>
      </p:graphicFrame>
      <p:sp>
        <p:nvSpPr>
          <p:cNvPr id="325" name="Google Shape;325;p12"/>
          <p:cNvSpPr txBox="1"/>
          <p:nvPr/>
        </p:nvSpPr>
        <p:spPr>
          <a:xfrm>
            <a:off x="152400" y="1524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Contractual</a:t>
            </a:r>
            <a:r>
              <a:rPr b="1" lang="en-GB" sz="20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Trust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7"/>
          <p:cNvSpPr/>
          <p:nvPr/>
        </p:nvSpPr>
        <p:spPr>
          <a:xfrm>
            <a:off x="793790" y="888682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50"/>
              <a:buFont typeface="Instrument Sans SemiBold"/>
              <a:buNone/>
            </a:pPr>
            <a:r>
              <a:rPr lang="en-GB" sz="4450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RAG Strategies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7"/>
          <p:cNvSpPr/>
          <p:nvPr/>
        </p:nvSpPr>
        <p:spPr>
          <a:xfrm>
            <a:off x="793790" y="1688187"/>
            <a:ext cx="12610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3550"/>
              <a:buFont typeface="Instrument Sans SemiBold"/>
              <a:buNone/>
            </a:pPr>
            <a:r>
              <a:rPr lang="en-GB" sz="3550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Multiple sources of KB seamlessly integrated in the pipeline</a:t>
            </a:r>
            <a:endParaRPr sz="3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7"/>
          <p:cNvSpPr/>
          <p:nvPr/>
        </p:nvSpPr>
        <p:spPr>
          <a:xfrm>
            <a:off x="793800" y="2605675"/>
            <a:ext cx="3928800" cy="7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4C1FA"/>
              </a:buClr>
              <a:buSzPts val="2197"/>
              <a:buFont typeface="Instrument Sans SemiBold"/>
              <a:buNone/>
            </a:pPr>
            <a:r>
              <a:rPr lang="en-GB" sz="2197">
                <a:solidFill>
                  <a:srgbClr val="84C1FA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Corporate Knowledge (Confluence, Drive)</a:t>
            </a:r>
            <a:endParaRPr sz="219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7"/>
          <p:cNvSpPr/>
          <p:nvPr/>
        </p:nvSpPr>
        <p:spPr>
          <a:xfrm>
            <a:off x="793800" y="3540070"/>
            <a:ext cx="39288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503" lvl="0" marL="342503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48"/>
              <a:buFont typeface="Instrument Sans Medium"/>
              <a:buChar char="•"/>
            </a:pPr>
            <a:r>
              <a:rPr lang="en-GB" sz="1747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Vertex AI Agent Builder</a:t>
            </a:r>
            <a:endParaRPr sz="174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7"/>
          <p:cNvSpPr/>
          <p:nvPr/>
        </p:nvSpPr>
        <p:spPr>
          <a:xfrm>
            <a:off x="793800" y="3981758"/>
            <a:ext cx="3928800" cy="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503" lvl="0" marL="342503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48"/>
              <a:buFont typeface="Instrument Sans Medium"/>
              <a:buChar char="•"/>
            </a:pPr>
            <a:r>
              <a:rPr lang="en-GB" sz="1747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Secure with Private Service Connect</a:t>
            </a:r>
            <a:endParaRPr sz="174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7"/>
          <p:cNvSpPr/>
          <p:nvPr/>
        </p:nvSpPr>
        <p:spPr>
          <a:xfrm>
            <a:off x="5059482" y="2605675"/>
            <a:ext cx="4064400" cy="7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4C1FA"/>
              </a:buClr>
              <a:buSzPts val="2197"/>
              <a:buFont typeface="Instrument Sans SemiBold"/>
              <a:buNone/>
            </a:pPr>
            <a:r>
              <a:rPr lang="en-GB" sz="2197">
                <a:solidFill>
                  <a:srgbClr val="84C1FA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Structured Business Data (BigQuery)</a:t>
            </a:r>
            <a:endParaRPr sz="219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7"/>
          <p:cNvSpPr/>
          <p:nvPr/>
        </p:nvSpPr>
        <p:spPr>
          <a:xfrm>
            <a:off x="5059483" y="3540082"/>
            <a:ext cx="4064400" cy="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503" lvl="0" marL="342503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48"/>
              <a:buFont typeface="Instrument Sans Medium"/>
              <a:buChar char="•"/>
            </a:pPr>
            <a:r>
              <a:rPr lang="en-GB" sz="1747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Semantic Text-to-SQL (Langchain Tool) exposed to agent</a:t>
            </a:r>
            <a:endParaRPr sz="174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7"/>
          <p:cNvSpPr/>
          <p:nvPr/>
        </p:nvSpPr>
        <p:spPr>
          <a:xfrm>
            <a:off x="5059482" y="4344241"/>
            <a:ext cx="40644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503" lvl="0" marL="342503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48"/>
              <a:buFont typeface="Instrument Sans Medium"/>
              <a:buChar char="•"/>
            </a:pPr>
            <a:r>
              <a:rPr lang="en-GB" sz="1747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text-embedding-004</a:t>
            </a:r>
            <a:endParaRPr sz="174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7"/>
          <p:cNvSpPr/>
          <p:nvPr/>
        </p:nvSpPr>
        <p:spPr>
          <a:xfrm>
            <a:off x="5059482" y="4785928"/>
            <a:ext cx="4064400" cy="10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503" lvl="0" marL="342503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48"/>
              <a:buFont typeface="Instrument Sans Medium"/>
              <a:buChar char="•"/>
            </a:pPr>
            <a:r>
              <a:rPr lang="en-GB" sz="1747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Vector Search on preingested (worker based) structured schema embeddings</a:t>
            </a:r>
            <a:endParaRPr sz="174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7"/>
          <p:cNvSpPr/>
          <p:nvPr/>
        </p:nvSpPr>
        <p:spPr>
          <a:xfrm>
            <a:off x="5059482" y="5952583"/>
            <a:ext cx="4064400" cy="10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503" lvl="0" marL="342503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48"/>
              <a:buFont typeface="Instrument Sans Medium"/>
              <a:buChar char="•"/>
            </a:pPr>
            <a:r>
              <a:rPr lang="en-GB" sz="1747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DRY RUN with authorized functions with Read-Only via Service Account</a:t>
            </a:r>
            <a:endParaRPr sz="174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7"/>
          <p:cNvSpPr/>
          <p:nvPr/>
        </p:nvSpPr>
        <p:spPr>
          <a:xfrm>
            <a:off x="10456231" y="2605675"/>
            <a:ext cx="283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4C1FA"/>
              </a:buClr>
              <a:buSzPts val="2197"/>
              <a:buFont typeface="Instrument Sans SemiBold"/>
              <a:buNone/>
            </a:pPr>
            <a:r>
              <a:rPr lang="en-GB" sz="2197">
                <a:solidFill>
                  <a:srgbClr val="84C1FA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Transient Uploads</a:t>
            </a:r>
            <a:endParaRPr sz="219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7"/>
          <p:cNvSpPr/>
          <p:nvPr/>
        </p:nvSpPr>
        <p:spPr>
          <a:xfrm>
            <a:off x="10456234" y="3173439"/>
            <a:ext cx="39288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503" lvl="0" marL="342503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48"/>
              <a:buFont typeface="Instrument Sans Medium"/>
              <a:buChar char="•"/>
            </a:pPr>
            <a:r>
              <a:rPr lang="en-GB" sz="1747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Presigned URL Upload</a:t>
            </a:r>
            <a:endParaRPr sz="174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7"/>
          <p:cNvSpPr/>
          <p:nvPr/>
        </p:nvSpPr>
        <p:spPr>
          <a:xfrm>
            <a:off x="10456234" y="3615126"/>
            <a:ext cx="39288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503" lvl="0" marL="342503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48"/>
              <a:buFont typeface="Instrument Sans Medium"/>
              <a:buChar char="•"/>
            </a:pPr>
            <a:r>
              <a:rPr lang="en-GB" sz="1747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Vertex AI Layout-Aware Chunking</a:t>
            </a:r>
            <a:endParaRPr sz="174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7"/>
          <p:cNvSpPr/>
          <p:nvPr/>
        </p:nvSpPr>
        <p:spPr>
          <a:xfrm>
            <a:off x="10456234" y="4056814"/>
            <a:ext cx="39288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503" lvl="0" marL="342503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48"/>
              <a:buFont typeface="Instrument Sans Medium"/>
              <a:buChar char="•"/>
            </a:pPr>
            <a:r>
              <a:rPr lang="en-GB" sz="1747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text-embedding-004</a:t>
            </a:r>
            <a:endParaRPr sz="174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7"/>
          <p:cNvSpPr/>
          <p:nvPr/>
        </p:nvSpPr>
        <p:spPr>
          <a:xfrm>
            <a:off x="10456234" y="4498502"/>
            <a:ext cx="3928800" cy="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503" lvl="0" marL="342503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48"/>
              <a:buFont typeface="Instrument Sans Medium"/>
              <a:buChar char="•"/>
            </a:pPr>
            <a:r>
              <a:rPr lang="en-GB" sz="1747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Vertex AI RAG Engine configured for Semantic Chunking</a:t>
            </a:r>
            <a:endParaRPr sz="174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0" name="Google Shape;350;g3babb943bfa_0_0"/>
          <p:cNvGraphicFramePr/>
          <p:nvPr/>
        </p:nvGraphicFramePr>
        <p:xfrm>
          <a:off x="1716925" y="87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{C558C3F9-6CAC-4744-8D0C-EB8345921052}</a:tableStyleId>
              </a:tblPr>
              <a:tblGrid>
                <a:gridCol w="2612225"/>
                <a:gridCol w="4366600"/>
                <a:gridCol w="4699950"/>
              </a:tblGrid>
              <a:tr h="1206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Composant GCP </a:t>
                      </a:r>
                      <a:endParaRPr b="1" sz="18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Équivalent Kubernetes Natif / Souverain</a:t>
                      </a:r>
                      <a:endParaRPr b="1" sz="18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Fonction Clé</a:t>
                      </a:r>
                      <a:endParaRPr b="1" sz="18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1206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VPC Service Control</a:t>
                      </a:r>
                      <a:endParaRPr b="1" sz="18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Cilium + Network Policies</a:t>
                      </a:r>
                      <a:endParaRPr b="1" sz="15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Isolation logique et segmentation L7.</a:t>
                      </a:r>
                      <a:endParaRPr sz="18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1206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IAP + Access Approval</a:t>
                      </a:r>
                      <a:endParaRPr b="1" sz="18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Keycloak + OAuth2 Proxy + Teleport</a:t>
                      </a:r>
                      <a:endParaRPr b="1" sz="15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Authentification forte et accès conditionnel.</a:t>
                      </a:r>
                      <a:endParaRPr sz="18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1206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Cloud NAT</a:t>
                      </a:r>
                      <a:endParaRPr b="1" sz="18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Cilium / Istio Egress Gateway</a:t>
                      </a:r>
                      <a:endParaRPr b="1" sz="15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Contrôle et traçabilité des flux sortants.</a:t>
                      </a:r>
                      <a:endParaRPr sz="18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1206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GKE Autopilot</a:t>
                      </a:r>
                      <a:endParaRPr b="1" sz="18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RKE2 ou Talos Linux</a:t>
                      </a:r>
                      <a:endParaRPr b="1" sz="15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Orchestration durcie et immuable.</a:t>
                      </a:r>
                      <a:endParaRPr sz="18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1206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Confidential GKE (SEV)</a:t>
                      </a:r>
                      <a:endParaRPr b="1" sz="18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Confidential Containers (CoCo)</a:t>
                      </a:r>
                      <a:endParaRPr b="1" sz="15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Chiffrement de la RAM au niveau matériel.</a:t>
                      </a:r>
                      <a:endParaRPr sz="18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  <p:sp>
        <p:nvSpPr>
          <p:cNvPr id="351" name="Google Shape;351;g3babb943bfa_0_0"/>
          <p:cNvSpPr txBox="1"/>
          <p:nvPr/>
        </p:nvSpPr>
        <p:spPr>
          <a:xfrm>
            <a:off x="152400" y="152400"/>
            <a:ext cx="417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Service Heavy vs Asset Heavy</a:t>
            </a:r>
            <a:endParaRPr b="1" sz="18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2026-01-13T16:06:48Z</dcterms:created>
</cp:coreProperties>
</file>