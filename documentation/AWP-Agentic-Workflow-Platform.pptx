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8229600" cx="14630400"/>
  <p:notesSz cx="8229600" cy="14630400"/>
  <p:embeddedFontLst>
    <p:embeddedFont>
      <p:font typeface="Instrument Sans SemiBold"/>
      <p:regular r:id="rId23"/>
      <p:bold r:id="rId24"/>
      <p:italic r:id="rId25"/>
      <p:boldItalic r:id="rId26"/>
    </p:embeddedFont>
    <p:embeddedFont>
      <p:font typeface="Instrument Sans Medium"/>
      <p:regular r:id="rId27"/>
      <p:bold r:id="rId28"/>
      <p:italic r:id="rId29"/>
      <p:boldItalic r:id="rId30"/>
    </p:embeddedFont>
    <p:embeddedFont>
      <p:font typeface="Instrument Sans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5" roundtripDataSignature="AMtx7mjyp5sUNVmtlBC9+ou0eeuAsv0x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39660E-A9F4-4646-8AA0-80A58FB40DAB}">
  <a:tblStyle styleId="{F839660E-A9F4-4646-8AA0-80A58FB40DA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8F32C032-DF38-4E46-8BCA-A2CE63072470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InstrumentSansSemiBold-bold.fntdata"/><Relationship Id="rId23" Type="http://schemas.openxmlformats.org/officeDocument/2006/relationships/font" Target="fonts/InstrumentSansSemiBold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strumentSansSemiBold-boldItalic.fntdata"/><Relationship Id="rId25" Type="http://schemas.openxmlformats.org/officeDocument/2006/relationships/font" Target="fonts/InstrumentSansSemiBold-italic.fntdata"/><Relationship Id="rId28" Type="http://schemas.openxmlformats.org/officeDocument/2006/relationships/font" Target="fonts/InstrumentSansMedium-bold.fntdata"/><Relationship Id="rId27" Type="http://schemas.openxmlformats.org/officeDocument/2006/relationships/font" Target="fonts/Instrument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strument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strumentSans-regular.fntdata"/><Relationship Id="rId30" Type="http://schemas.openxmlformats.org/officeDocument/2006/relationships/font" Target="fonts/Instrument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strumentSans-italic.fntdata"/><Relationship Id="rId10" Type="http://schemas.openxmlformats.org/officeDocument/2006/relationships/slide" Target="slides/slide5.xml"/><Relationship Id="rId32" Type="http://schemas.openxmlformats.org/officeDocument/2006/relationships/font" Target="fonts/InstrumentSans-bold.fntdata"/><Relationship Id="rId13" Type="http://schemas.openxmlformats.org/officeDocument/2006/relationships/slide" Target="slides/slide8.xml"/><Relationship Id="rId35" Type="http://customschemas.google.com/relationships/presentationmetadata" Target="metadata"/><Relationship Id="rId12" Type="http://schemas.openxmlformats.org/officeDocument/2006/relationships/slide" Target="slides/slide7.xml"/><Relationship Id="rId34" Type="http://schemas.openxmlformats.org/officeDocument/2006/relationships/font" Target="fonts/InstrumentSans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371850" y="1097275"/>
            <a:ext cx="548665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822950" y="6949425"/>
            <a:ext cx="6583675" cy="65836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" name="Google Shape;4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Bonjour à toute et tous! 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Je m’appelle Mohamad Nabaa, je suis dans la tech depuis 15 ans, Architect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Solution dep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uis 8 ans, 4 ans 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d'expérience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dans le GenAI.</a:t>
            </a:r>
            <a:endParaRPr b="1" i="0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Dans le cadre de la process de 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recrutement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pour le poste Architecte Solution GenAI, vous m’avez demander de 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préparer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une 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présentation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pour un client dans la secteur LUXE 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C’est pour cela que je suis la.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 </a:t>
            </a:r>
            <a:r>
              <a:rPr b="1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présentation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couvrira les point suivants: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8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8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" name="Google Shape;4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" name="Google Shape;53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050"/>
              <a:buFont typeface="Instrument Sans"/>
              <a:buChar char="●"/>
            </a:pPr>
            <a:r>
              <a:rPr lang="en-GB" sz="1050">
                <a:solidFill>
                  <a:srgbClr val="1F1F1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 client du secteur du Luxe comptant 25 000 utilisateurs, qui utilise actuellement un chatbot ne pouvant pas exécuter d'actions opérationnelles autonomes.</a:t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050"/>
              <a:buFont typeface="Instrument Sans"/>
              <a:buChar char="●"/>
            </a:pPr>
            <a:r>
              <a:rPr lang="en-GB" sz="1050">
                <a:solidFill>
                  <a:srgbClr val="1F1F1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Cette diapositive présente notre vision : transformer un simple chatbot statique en une véritable plateforme agentique souveraine.</a:t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050"/>
              <a:buFont typeface="Instrument Sans"/>
              <a:buChar char="●"/>
            </a:pPr>
            <a:r>
              <a:rPr lang="en-GB" sz="1050">
                <a:solidFill>
                  <a:srgbClr val="1F1F1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L'objectif est de mettre en place une « Équipe Virtuelle » basée sur des agents. Celle-ci exécutera des tâches complexes, tout en assurant une supervision humaine pour les actions importantes.</a:t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1F1F1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L'architecture logique est au cœur de ce workflow agentique.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 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Chaque besoin pilote une équipe virtuelle précise, intelligente et capable d'interagir avec l'ensemble des demandes.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Nous avons choisi pour cette architecture l'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superviseur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 comme modèle de gouvernance centralisée.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 superviseur (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LangGraph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) orchestre des agents spécialisés (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CrewAI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) capables d'exécuter des actions complexes grâce à leurs 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outils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 dans 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ServiceNow, Salesforce, Hubspot, Vertex AI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 ou 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BigQuery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Chaque décision prise par l'IA est tracée et 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partagée vers Cloud Trace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 pour garantir la transparence et l'</a:t>
            </a:r>
            <a:r>
              <a:rPr b="1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observabilité</a:t>
            </a:r>
            <a:r>
              <a:rPr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Headline: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Zero-Trust Hardware-Enforced Enclave (Paris-west-9) </a:t>
            </a:r>
            <a:endParaRPr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Infrastructure Breakdown:</a:t>
            </a:r>
            <a:endParaRPr b="1"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Orchestrator (The Brain):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GKE Autopilot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running LangGraph. Hardware-level memory encryption (AMD SEV-SNP) ensures the supervisor's reasoning logic is invisible to the provider.</a:t>
            </a:r>
            <a:endParaRPr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Inference: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Vertex AI Endpoints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 Models deployed on N2D/C3 machine types with the "Confidential Computing" toggle enabled to eliminate the "RAM Gap" during processing.</a:t>
            </a:r>
            <a:endParaRPr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Sovereign Access Gate: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IAP Auth + Access Approval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 Dual-layer security requiring explicit user identity verification and time-bound client approval before any administrative provider access.</a:t>
            </a:r>
            <a:endParaRPr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Networking: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b="1"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VPC Service Control (Paris-west-9)</a:t>
            </a:r>
            <a:r>
              <a:rPr lang="en-GB" sz="11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perimeter encompassing all components to prevent data exfiltration to unauthorized external IPs.</a:t>
            </a:r>
            <a:endParaRPr sz="11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0" lvl="0" marL="45720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0" name="Google Shape;10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scale of full adoption, the cost per user will be around 8 euro monthly if we align a certain token cap per user.</a:t>
            </a:r>
            <a:endParaRPr/>
          </a:p>
        </p:txBody>
      </p:sp>
      <p:sp>
        <p:nvSpPr>
          <p:cNvPr id="192" name="Google Shape;192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1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b86952480f_0_59:notes"/>
          <p:cNvSpPr/>
          <p:nvPr>
            <p:ph idx="2" type="sldImg"/>
          </p:nvPr>
        </p:nvSpPr>
        <p:spPr>
          <a:xfrm>
            <a:off x="-273050" y="1828800"/>
            <a:ext cx="8775600" cy="493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b86952480f_0_59:notes"/>
          <p:cNvSpPr txBox="1"/>
          <p:nvPr>
            <p:ph idx="1" type="body"/>
          </p:nvPr>
        </p:nvSpPr>
        <p:spPr>
          <a:xfrm>
            <a:off x="822325" y="7040563"/>
            <a:ext cx="6585000" cy="57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4" name="Google Shape;244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Continuous Benchmarking</a:t>
            </a:r>
            <a:r>
              <a:rPr b="0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(To catch prompt drift/LLM updates)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Observability</a:t>
            </a:r>
            <a:r>
              <a:rPr b="0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Si un utilisateur "flague" une réponse (hallucination), on peut remonter instantanément au document source ou à la décision précise de l'agent.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QA &amp; Testing</a:t>
            </a:r>
            <a:r>
              <a:rPr b="0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On fait tourner plus de 100 tests de non-régression à chaque mise à jour du code via la CI/CD pour garantir que la qualité des réponses ne dégrade pas.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Résilience:</a:t>
            </a:r>
            <a:r>
              <a:rPr b="0" i="0" lang="en-GB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 cas de lenteur ou de panne d'un outil externe (ex: ServiceNow), le système bascule en "mode dégradé" proprement au lieu de planter.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AI Search ($2.50 / 1k queries):</a:t>
            </a:r>
            <a:r>
              <a:rPr b="0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1,000 users ask 5 questions a day, and your "Researcher Agent" decides to perform 3 searches per question to "refine results,”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$1,000 \text{ users} \times 5 \text{ Qs} \times 3 \text{ searches} \times 20 \text{ days} = 300,000 \text{ queries/mo} = $750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Critical Risk:</a:t>
            </a:r>
            <a:r>
              <a:rPr b="0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If a bug causes the agent to loop 10 times instead of 3, this cost triples overnight.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Solution:</a:t>
            </a:r>
            <a:r>
              <a:rPr b="0" i="0"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Hard-limit the number of tool calls per turn in your LangGraph definition.</a:t>
            </a:r>
            <a:endParaRPr b="0" i="0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b86952480f_0_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g3b86952480f_0_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 cœur du système est isolé au sein d'un périmètre VPC Service Controls sur GCP, garantissant que les données ne quittent jamais cet environnement sécurisé.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Identité et Accès : l'authentification est gérée par IAP (Identity-Aware Proxy), assurant la propagation de l'identité de l'utilisateur.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Souveraineté des Données : les données sont localisées en Europe (EU Residency).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Connectivité Maîtrisée : tous les flux passent par un Cloud NAT avec une adresse IP fixe autorisée (whitelisted), sécurisant les échanges via REST/OAuth.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GB" sz="12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Scalabilité Serverless : l'utilisation de Cloud Run permet une mise à l'échelle automatique selon l'usage, optimisant les coûts tout en supportant une charge allant jusqu'à 25 000 utilisateurs.</a:t>
            </a:r>
            <a:endParaRPr/>
          </a:p>
        </p:txBody>
      </p:sp>
      <p:sp>
        <p:nvSpPr>
          <p:cNvPr id="274" name="Google Shape;274;g3b86952480f_0_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b86952480f_0_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g3b86952480f_0_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g3b86952480f_0_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2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p12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bg>
      <p:bgPr>
        <a:solidFill>
          <a:srgbClr val="000000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bg>
      <p:bgPr>
        <a:solidFill>
          <a:srgbClr val="000000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5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25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2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"/>
          <p:cNvSpPr/>
          <p:nvPr/>
        </p:nvSpPr>
        <p:spPr>
          <a:xfrm>
            <a:off x="793790" y="2326005"/>
            <a:ext cx="6459141" cy="14175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4450"/>
              <a:buFont typeface="Instrument Sans SemiBold"/>
              <a:buNone/>
            </a:pPr>
            <a:r>
              <a:rPr lang="en-GB" sz="44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AWP</a:t>
            </a:r>
            <a:r>
              <a:rPr lang="en-GB" sz="44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Agentic Workflow Platform</a:t>
            </a:r>
            <a:endParaRPr sz="4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793790" y="3834289"/>
            <a:ext cx="4536519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550"/>
              <a:buFont typeface="Instrument Sans SemiBold"/>
              <a:buNone/>
            </a:pPr>
            <a:r>
              <a:rPr lang="en-GB" sz="35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Architecture Study</a:t>
            </a:r>
            <a:endParaRPr sz="3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1"/>
          <p:cNvSpPr/>
          <p:nvPr/>
        </p:nvSpPr>
        <p:spPr>
          <a:xfrm>
            <a:off x="793790" y="4741426"/>
            <a:ext cx="6459141" cy="4535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Medium"/>
              <a:buNone/>
            </a:pPr>
            <a:r>
              <a:rPr lang="en-GB" sz="22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Mohamad NABAA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1"/>
          <p:cNvSpPr/>
          <p:nvPr/>
        </p:nvSpPr>
        <p:spPr>
          <a:xfrm>
            <a:off x="793790" y="5450086"/>
            <a:ext cx="6459141" cy="4535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Medium"/>
              <a:buNone/>
            </a:pPr>
            <a:r>
              <a:rPr lang="en-GB" sz="22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20 Janvier 2026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" name="Google Shape;5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34031" y="733778"/>
            <a:ext cx="5996369" cy="74958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"/>
          <p:cNvSpPr/>
          <p:nvPr/>
        </p:nvSpPr>
        <p:spPr>
          <a:xfrm>
            <a:off x="793790" y="1560433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Sommaire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793790" y="2005489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lang="en-GB" sz="44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Index</a:t>
            </a:r>
            <a:endParaRPr sz="4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93832" y="3054425"/>
            <a:ext cx="9489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793790" y="3409474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793790" y="3583781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Introduction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5216924" y="3054424"/>
            <a:ext cx="7230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216962" y="3409474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5216962" y="3583781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Logical Architecture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9640112" y="3054425"/>
            <a:ext cx="5610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9640133" y="3409474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9640133" y="3583781"/>
            <a:ext cx="2857024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Physical Architecture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793825" y="4334950"/>
            <a:ext cx="7833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04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93790" y="4689991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793790" y="4864298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RAG Strategies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5216916" y="4334950"/>
            <a:ext cx="8232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5216962" y="4689991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5216962" y="4864298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Advantages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9640113" y="4334951"/>
            <a:ext cx="5610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06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9640133" y="4689991"/>
            <a:ext cx="4196358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9640133" y="4864298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TCO &amp; Roadmap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793824" y="5615476"/>
            <a:ext cx="7833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"/>
              <a:buNone/>
            </a:pPr>
            <a:r>
              <a:rPr lang="en-GB" sz="17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07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793790" y="5970508"/>
            <a:ext cx="13042702" cy="30480"/>
          </a:xfrm>
          <a:prstGeom prst="rect">
            <a:avLst/>
          </a:prstGeom>
          <a:solidFill>
            <a:srgbClr val="84C1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793790" y="6144816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Conclusion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lake surrounded by trees and mountains&#10;&#10;AI-generated content may be incorrect." id="83" name="Google Shape;8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1722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3"/>
          <p:cNvSpPr txBox="1"/>
          <p:nvPr/>
        </p:nvSpPr>
        <p:spPr>
          <a:xfrm>
            <a:off x="6322900" y="3556500"/>
            <a:ext cx="7477800" cy="11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6349" lvl="0" marL="8255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Instrument Sans"/>
              <a:buNone/>
            </a:pPr>
            <a:r>
              <a:rPr b="1" lang="en-GB" sz="2800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Vision</a:t>
            </a:r>
            <a:endParaRPr sz="120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6350" lvl="0" marL="6350" marR="40640" rtl="0" algn="just">
              <a:lnSpc>
                <a:spcPct val="107000"/>
              </a:lnSpc>
              <a:spcBef>
                <a:spcPts val="2230"/>
              </a:spcBef>
              <a:spcAft>
                <a:spcPts val="0"/>
              </a:spcAft>
              <a:buClr>
                <a:srgbClr val="1E3063"/>
              </a:buClr>
              <a:buSzPts val="1800"/>
              <a:buFont typeface="Instrument Sans"/>
              <a:buNone/>
            </a:pP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Transform from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Static Chatbot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Sovereign Agentic Platform</a:t>
            </a:r>
            <a:endParaRPr sz="120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5" name="Google Shape;85;p3"/>
          <p:cNvSpPr txBox="1"/>
          <p:nvPr/>
        </p:nvSpPr>
        <p:spPr>
          <a:xfrm>
            <a:off x="6322894" y="1333745"/>
            <a:ext cx="7315200" cy="18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6349" lvl="0" marL="8255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Instrument Sans"/>
              <a:buNone/>
            </a:pPr>
            <a:r>
              <a:rPr b="1" lang="en-GB" sz="2800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Use Case</a:t>
            </a:r>
            <a:endParaRPr b="1" sz="2400">
              <a:solidFill>
                <a:srgbClr val="84C1FA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6350" lvl="0" marL="6350" marR="40640" rtl="0" algn="just">
              <a:lnSpc>
                <a:spcPct val="137000"/>
              </a:lnSpc>
              <a:spcBef>
                <a:spcPts val="2230"/>
              </a:spcBef>
              <a:spcAft>
                <a:spcPts val="0"/>
              </a:spcAft>
              <a:buClr>
                <a:srgbClr val="84C1FA"/>
              </a:buClr>
              <a:buSzPts val="1800"/>
              <a:buFont typeface="Instrument Sans"/>
              <a:buNone/>
            </a:pP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LUXE Sector client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with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25000 internal users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, are using a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static chatbot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that provides information but lack the capability to perform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autonomous operational actions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</a:t>
            </a:r>
            <a:endParaRPr sz="120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3"/>
          <p:cNvSpPr txBox="1"/>
          <p:nvPr/>
        </p:nvSpPr>
        <p:spPr>
          <a:xfrm>
            <a:off x="6322894" y="209307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50">
                <a:solidFill>
                  <a:srgbClr val="091C5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 txBox="1"/>
          <p:nvPr/>
        </p:nvSpPr>
        <p:spPr>
          <a:xfrm>
            <a:off x="6322900" y="5179150"/>
            <a:ext cx="7477800" cy="18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6349" lvl="0" marL="8255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Instrument Sans"/>
              <a:buNone/>
            </a:pPr>
            <a:r>
              <a:rPr b="1" lang="en-GB" sz="2800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Objective</a:t>
            </a:r>
            <a:endParaRPr b="1" sz="2400">
              <a:solidFill>
                <a:srgbClr val="84C1FA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6350" lvl="0" marL="6350" marR="40640" rtl="0" algn="just">
              <a:lnSpc>
                <a:spcPct val="137000"/>
              </a:lnSpc>
              <a:spcBef>
                <a:spcPts val="2230"/>
              </a:spcBef>
              <a:spcAft>
                <a:spcPts val="0"/>
              </a:spcAft>
              <a:buClr>
                <a:srgbClr val="1E3063"/>
              </a:buClr>
              <a:buSzPts val="1800"/>
              <a:buFont typeface="Instrument Sans"/>
              <a:buNone/>
            </a:pP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Create a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Sovereign Agentic-powered "Virtual Team"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that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executes complex tasks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while keeping the </a:t>
            </a:r>
            <a:r>
              <a:rPr b="1" lang="en-GB" sz="1800">
                <a:solidFill>
                  <a:srgbClr val="84C1F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 in the loop </a:t>
            </a:r>
            <a:r>
              <a:rPr b="1" lang="en-GB" sz="18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actions.</a:t>
            </a:r>
            <a:endParaRPr sz="120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793790" y="772597"/>
            <a:ext cx="2126456" cy="265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650"/>
              <a:buFont typeface="Instrument Sans SemiBold"/>
              <a:buNone/>
            </a:pPr>
            <a:r>
              <a:rPr lang="en-GB" sz="16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Logical Architecture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793799" y="1106325"/>
            <a:ext cx="12533100" cy="4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Logical Architecture (The "Virtual Team")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793802" y="1705925"/>
            <a:ext cx="12533100" cy="4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650"/>
              <a:buFont typeface="Instrument Sans SemiBold"/>
              <a:buNone/>
            </a:pPr>
            <a:r>
              <a:rPr lang="en-GB" sz="26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Stateful Multi-Agent Orchestration with End-to-End Observability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diagram of a company&#10;&#10;AI-generated content may be incorrect." id="96" name="Google Shape;96;p4"/>
          <p:cNvPicPr preferRelativeResize="0"/>
          <p:nvPr/>
        </p:nvPicPr>
        <p:blipFill rotWithShape="1">
          <a:blip r:embed="rId3">
            <a:alphaModFix/>
          </a:blip>
          <a:srcRect b="18895" l="0" r="0" t="0"/>
          <a:stretch/>
        </p:blipFill>
        <p:spPr>
          <a:xfrm>
            <a:off x="141600" y="2464950"/>
            <a:ext cx="14142551" cy="5200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"/>
          <p:cNvSpPr/>
          <p:nvPr/>
        </p:nvSpPr>
        <p:spPr>
          <a:xfrm>
            <a:off x="717490" y="218473"/>
            <a:ext cx="2234100" cy="2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650"/>
              <a:buFont typeface="Instrument Sans SemiBold"/>
              <a:buNone/>
            </a:pPr>
            <a:r>
              <a:rPr lang="en-GB" sz="16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Physical Architecture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17490" y="552206"/>
            <a:ext cx="42867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Physical Architecture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17503" y="1151800"/>
            <a:ext cx="13337700" cy="4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650"/>
              <a:buFont typeface="Instrument Sans SemiBold"/>
              <a:buNone/>
            </a:pPr>
            <a:r>
              <a:rPr lang="en-GB" sz="26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Zero-Trust Serverless Enclave for Enterprise GenAI (Paris-west-9)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5" title="diagram-export-16-01-2026-09_09_32.png"/>
          <p:cNvPicPr preferRelativeResize="0"/>
          <p:nvPr/>
        </p:nvPicPr>
        <p:blipFill rotWithShape="1">
          <a:blip r:embed="rId3">
            <a:alphaModFix/>
          </a:blip>
          <a:srcRect b="13194" l="0" r="0" t="0"/>
          <a:stretch/>
        </p:blipFill>
        <p:spPr>
          <a:xfrm>
            <a:off x="1913500" y="1556163"/>
            <a:ext cx="10803389" cy="66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/>
          <p:nvPr/>
        </p:nvSpPr>
        <p:spPr>
          <a:xfrm>
            <a:off x="782241" y="616268"/>
            <a:ext cx="2654141" cy="331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829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050"/>
              <a:buFont typeface="Instrument Sans SemiBold"/>
              <a:buNone/>
            </a:pPr>
            <a:r>
              <a:rPr lang="en-GB" sz="20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Architecture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782241" y="1032867"/>
            <a:ext cx="5308402" cy="663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01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150"/>
              <a:buFont typeface="Instrument Sans SemiBold"/>
              <a:buNone/>
            </a:pPr>
            <a:r>
              <a:rPr lang="en-GB" sz="41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Architecture</a:t>
            </a:r>
            <a:endParaRPr sz="4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782241" y="1781294"/>
            <a:ext cx="6896814" cy="5307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Asynchronous Python native stack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82241" y="2630567"/>
            <a:ext cx="13065919" cy="339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None/>
            </a:pP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Here's a breakdown of our technical architecture: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82241" y="3421261"/>
            <a:ext cx="3185041" cy="3980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500"/>
              <a:buFont typeface="Instrument Sans SemiBold"/>
              <a:buNone/>
            </a:pPr>
            <a:r>
              <a:rPr lang="en-GB" sz="25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Stack</a:t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782241" y="4031575"/>
            <a:ext cx="6273998" cy="679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LangGraph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graph orchestration, </a:t>
            </a: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LangChain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native tools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782241" y="4785003"/>
            <a:ext cx="6273998" cy="339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CrewAI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agent implementation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782241" y="5198864"/>
            <a:ext cx="6273998" cy="339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FastAPI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the async server runtime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782241" y="5612725"/>
            <a:ext cx="6273998" cy="339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FastMCP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MCP server/client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782241" y="6026587"/>
            <a:ext cx="6273998" cy="339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Terraform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: Infrastructure as a Service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7581781" y="3421261"/>
            <a:ext cx="3185041" cy="3980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500"/>
              <a:buFont typeface="Instrument Sans SemiBold"/>
              <a:buNone/>
            </a:pPr>
            <a:r>
              <a:rPr lang="en-GB" sz="25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Observability</a:t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7581781" y="4031575"/>
            <a:ext cx="6273998" cy="10186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None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LangGraph Monitoring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traces every graph node state transition, exported to Cloud Logging and Cloud Trace (Grafana) for production monitoring.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7581781" y="5262563"/>
            <a:ext cx="3185041" cy="3980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500"/>
              <a:buFont typeface="Instrument Sans SemiBold"/>
              <a:buNone/>
            </a:pPr>
            <a:r>
              <a:rPr lang="en-GB" sz="25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Governance</a:t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7581781" y="5872877"/>
            <a:ext cx="6273998" cy="679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None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Sensitive Data Protection sidecar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: (GCP managed service) for PII redaction at ingress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7581781" y="6743105"/>
            <a:ext cx="6273998" cy="679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None/>
            </a:pPr>
            <a:r>
              <a:rPr b="1"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Interrupt-based approval flow</a:t>
            </a:r>
            <a:r>
              <a:rPr lang="en-GB" sz="16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for high-risk actions (Human-in-Loop validated via IAP identity).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/>
          <p:nvPr/>
        </p:nvSpPr>
        <p:spPr>
          <a:xfrm>
            <a:off x="793790" y="888682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lang="en-GB" sz="44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RAG Strategies</a:t>
            </a:r>
            <a:endParaRPr sz="4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793790" y="1688187"/>
            <a:ext cx="12610386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550"/>
              <a:buFont typeface="Instrument Sans SemiBold"/>
              <a:buNone/>
            </a:pPr>
            <a:r>
              <a:rPr lang="en-GB" sz="35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Multiple sources of KB seamlessly integrated in the pipeline</a:t>
            </a:r>
            <a:endParaRPr sz="3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793790" y="2822138"/>
            <a:ext cx="3933349" cy="708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Corporate Knowledge (Confluence, Drive)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793790" y="3757613"/>
            <a:ext cx="3933349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Vertex AI Agent Builder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793790" y="4199811"/>
            <a:ext cx="3933349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Secure with Private Service Connect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5064399" y="2822138"/>
            <a:ext cx="4069200" cy="7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Structured Business Data (BigQuery)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5064399" y="3757613"/>
            <a:ext cx="40692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Semantic Text-to-SQL (Langchain Tool) exposed to agent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064399" y="4562713"/>
            <a:ext cx="40692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text-embedding-004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5064399" y="5004911"/>
            <a:ext cx="40692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Vector Search on preingested (worker based) structured schema embeddings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064399" y="6172914"/>
            <a:ext cx="40692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DRY RUN with authorized functions with Read-Only via Service Account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10467380" y="2822138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Transient Uploads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10467383" y="3390558"/>
            <a:ext cx="3933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Presigned URL Upload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10467383" y="3832756"/>
            <a:ext cx="3933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Vertex AI Layout-Aware Chunking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10467383" y="4274954"/>
            <a:ext cx="3933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text-embedding-004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10467383" y="4717152"/>
            <a:ext cx="39333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Char char="•"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Vertex AI RAG Engine configured for Semantic Chunking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/>
          <p:nvPr/>
        </p:nvSpPr>
        <p:spPr>
          <a:xfrm>
            <a:off x="789503" y="756880"/>
            <a:ext cx="2127528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650"/>
              <a:buFont typeface="Instrument Sans SemiBold"/>
              <a:buNone/>
            </a:pPr>
            <a:r>
              <a:rPr lang="en-GB" sz="16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Analyse Comparative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789503" y="1088827"/>
            <a:ext cx="4229457" cy="528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Advantages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789503" y="1871186"/>
            <a:ext cx="13051393" cy="5601533"/>
          </a:xfrm>
          <a:prstGeom prst="roundRect">
            <a:avLst>
              <a:gd fmla="val 2718" name="adj"/>
            </a:avLst>
          </a:prstGeom>
          <a:noFill/>
          <a:ln cap="flat" cmpd="sng" w="9525">
            <a:solidFill>
              <a:srgbClr val="000000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797123" y="1878806"/>
            <a:ext cx="13036153" cy="488752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966311" y="1987868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Advantage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3577350" y="1987876"/>
            <a:ext cx="3258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Static Chatbot (Current)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6836331" y="1987868"/>
            <a:ext cx="3565088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Agentic Platform Capability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10747177" y="1987868"/>
            <a:ext cx="2917031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Architectural Solution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97123" y="2367558"/>
            <a:ext cx="13036153" cy="759381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966311" y="2476619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Operational Efficiency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3577352" y="2476619"/>
            <a:ext cx="291322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High L1/L2 support costs (€1M+ annually) for 25k users.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6836331" y="2476619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Agents offload L1/L2 support and operational actions and their recurrent cost.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10747177" y="2476619"/>
            <a:ext cx="291703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Supervisor (LangGraph)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CrewAI Agents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797123" y="3126938"/>
            <a:ext cx="13036153" cy="759381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966311" y="3236000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Reduced MTTR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3577352" y="3236000"/>
            <a:ext cx="291322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Response and resolution times are bottlenecked by human intervention.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6836331" y="3236000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Faster response times with minimal human intervention through automated workflows.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10747177" y="3236000"/>
            <a:ext cx="291703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Supervisor (LangGraph)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CrewAI Agents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797123" y="3886319"/>
            <a:ext cx="13036153" cy="1030010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966311" y="3995380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Data Sovereignty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3577352" y="3995380"/>
            <a:ext cx="2913221" cy="811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Reliance on "Black Box" LLM with vague GDPR and data residency controls.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6836331" y="3995380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100% EU Data Residency with Zero-Trust security in a serverless enclave.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0747175" y="3995366"/>
            <a:ext cx="2916900" cy="7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VPC Service Control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(Paris-west-9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)</a:t>
            </a:r>
            <a:b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</a:b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RAM Encryption: Data is never decrypted in the clear.</a:t>
            </a:r>
            <a:endParaRPr b="1" sz="1300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t/>
            </a:r>
            <a:endParaRPr sz="1300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t/>
            </a:r>
            <a:endParaRPr sz="1300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797123" y="4916329"/>
            <a:ext cx="13036153" cy="759381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966311" y="5025390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System Ownership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3577352" y="5025390"/>
            <a:ext cx="291322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Owned but not properly governed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6836331" y="5025390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Full ownership of the "AI Brain," specialized logic, and system connectors.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0747177" y="5025390"/>
            <a:ext cx="291703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FastAPI Native Stack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FastMCP Connectors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797123" y="5675709"/>
            <a:ext cx="13036153" cy="1030010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966311" y="5784771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Security &amp; Privacy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3577352" y="5784771"/>
            <a:ext cx="2913221" cy="811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Limited ability to filter or redact sensitive data before LLM processing, no security controls.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6836331" y="5784771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Integrated PII redaction and identity propagation for secure operations.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10747175" y="5784784"/>
            <a:ext cx="29169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Cloud SDP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IAP Authentication</a:t>
            </a:r>
            <a:b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</a:b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Provider Lockout: Google admins blocked by Access Approval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b="1" sz="1300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t/>
            </a:r>
            <a:endParaRPr b="1" sz="1300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7123" y="6705719"/>
            <a:ext cx="13036153" cy="759381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966311" y="6814780"/>
            <a:ext cx="2265283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Scalable TCO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3577352" y="6814780"/>
            <a:ext cx="2913221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Inflexible scaling;  hosted on intranet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6836331" y="6814780"/>
            <a:ext cx="3565088" cy="5412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Horizontal, demand-driven scaling with usage-dependent serverless costing.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10747177" y="6814780"/>
            <a:ext cx="2917031" cy="27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Confidential GKE Autopilot &amp; Confidential Vertex AI Endpoints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"/>
          <p:cNvSpPr/>
          <p:nvPr/>
        </p:nvSpPr>
        <p:spPr>
          <a:xfrm>
            <a:off x="793790" y="637699"/>
            <a:ext cx="2268260" cy="28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750"/>
              <a:buFont typeface="Instrument Sans SemiBold"/>
              <a:buNone/>
            </a:pPr>
            <a:r>
              <a:rPr lang="en-GB" sz="17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Planification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793790" y="993696"/>
            <a:ext cx="4536519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550"/>
              <a:buFont typeface="Instrument Sans SemiBold"/>
              <a:buNone/>
            </a:pPr>
            <a:r>
              <a:rPr lang="en-GB" sz="35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TCO &amp; Roadmap</a:t>
            </a:r>
            <a:endParaRPr sz="3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793790" y="1832848"/>
            <a:ext cx="13042821" cy="2859881"/>
          </a:xfrm>
          <a:prstGeom prst="roundRect">
            <a:avLst>
              <a:gd fmla="val 5711" name="adj"/>
            </a:avLst>
          </a:prstGeom>
          <a:solidFill>
            <a:srgbClr val="FFFFFF"/>
          </a:solidFill>
          <a:ln cap="flat" cmpd="sng" w="22850">
            <a:solidFill>
              <a:srgbClr val="B4CC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816650" y="1855708"/>
            <a:ext cx="725805" cy="2814161"/>
          </a:xfrm>
          <a:prstGeom prst="roundRect">
            <a:avLst>
              <a:gd fmla="val 18722" name="adj"/>
            </a:avLst>
          </a:prstGeom>
          <a:solidFill>
            <a:srgbClr val="CEE6F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1723906" y="2037159"/>
            <a:ext cx="2268260" cy="28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750"/>
              <a:buFont typeface="Instrument Sans SemiBold"/>
              <a:buNone/>
            </a:pPr>
            <a:r>
              <a:rPr lang="en-GB" sz="17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Build Phase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1723906" y="2429470"/>
            <a:ext cx="11908393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CapEx: Estimated Cost: </a:t>
            </a:r>
            <a:r>
              <a:rPr lang="en-GB" sz="1400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€480K-&gt;€660K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1723906" y="2783205"/>
            <a:ext cx="11908393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3-6 months, Requires 6-7 FTE Squad: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723906" y="3136940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b="0" i="0" lang="en-GB" sz="140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Cloud Architect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1723906" y="3490674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b="0" i="0" lang="en-GB" sz="140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Senior AI Engineer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1723906" y="3844409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b="0" i="0" lang="en-GB" sz="140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Data Engineer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723906" y="4198144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DevSecOps / Security Architect</a:t>
            </a:r>
            <a:endParaRPr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793790" y="4874181"/>
            <a:ext cx="13042821" cy="1444943"/>
          </a:xfrm>
          <a:prstGeom prst="roundRect">
            <a:avLst>
              <a:gd fmla="val 11303" name="adj"/>
            </a:avLst>
          </a:prstGeom>
          <a:solidFill>
            <a:srgbClr val="FFFFFF"/>
          </a:solidFill>
          <a:ln cap="flat" cmpd="sng" w="22850">
            <a:solidFill>
              <a:srgbClr val="B4CC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816650" y="4897041"/>
            <a:ext cx="725805" cy="1399222"/>
          </a:xfrm>
          <a:prstGeom prst="roundRect">
            <a:avLst>
              <a:gd fmla="val 18722" name="adj"/>
            </a:avLst>
          </a:prstGeom>
          <a:solidFill>
            <a:srgbClr val="CEE6F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1723906" y="5078492"/>
            <a:ext cx="2268260" cy="28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750"/>
              <a:buFont typeface="Instrument Sans SemiBold"/>
              <a:buNone/>
            </a:pPr>
            <a:r>
              <a:rPr lang="en-GB" sz="17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Run Phase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1723906" y="5470803"/>
            <a:ext cx="11908393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OpEx: Infrastructure </a:t>
            </a:r>
            <a:r>
              <a:rPr lang="en-GB" sz="1400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€</a:t>
            </a:r>
            <a:r>
              <a:rPr lang="en-GB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8,</a:t>
            </a:r>
            <a:r>
              <a:rPr lang="en-GB" sz="1400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00 - €</a:t>
            </a:r>
            <a:r>
              <a:rPr lang="en-GB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10</a:t>
            </a:r>
            <a:r>
              <a:rPr lang="en-GB" sz="1400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,000 / month</a:t>
            </a:r>
            <a:r>
              <a:rPr lang="en-GB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in pilot phase</a:t>
            </a:r>
            <a:endParaRPr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1723906" y="5824538"/>
            <a:ext cx="11908393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GCP Infrastructure + LLM Tokens for ~1k users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793790" y="6500574"/>
            <a:ext cx="13042821" cy="1091208"/>
          </a:xfrm>
          <a:prstGeom prst="roundRect">
            <a:avLst>
              <a:gd fmla="val 14967" name="adj"/>
            </a:avLst>
          </a:prstGeom>
          <a:solidFill>
            <a:srgbClr val="FFFFFF"/>
          </a:solidFill>
          <a:ln cap="flat" cmpd="sng" w="22850">
            <a:solidFill>
              <a:srgbClr val="B4CC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816650" y="6523434"/>
            <a:ext cx="725805" cy="1045488"/>
          </a:xfrm>
          <a:prstGeom prst="roundRect">
            <a:avLst>
              <a:gd fmla="val 18722" name="adj"/>
            </a:avLst>
          </a:prstGeom>
          <a:solidFill>
            <a:srgbClr val="CEE6F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1723906" y="6704886"/>
            <a:ext cx="2268260" cy="28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750"/>
              <a:buFont typeface="Instrument Sans SemiBold"/>
              <a:buNone/>
            </a:pPr>
            <a:r>
              <a:rPr lang="en-GB" sz="17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Operational Team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723906" y="7097197"/>
            <a:ext cx="11908393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Requires </a:t>
            </a:r>
            <a:r>
              <a:rPr lang="en-GB" sz="1400">
                <a:solidFill>
                  <a:srgbClr val="84C1FA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2.5 FTE</a:t>
            </a: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-&gt; (Platform Engineer + </a:t>
            </a:r>
            <a:r>
              <a:rPr lang="en-GB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FinOps/Security Analyst</a:t>
            </a: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)</a:t>
            </a:r>
            <a:r>
              <a:rPr lang="en-GB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+ 0.5</a:t>
            </a: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GB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FTE</a:t>
            </a:r>
            <a:r>
              <a:rPr lang="en-GB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to maintain connectors and governance.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5330309" y="3182302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b="0" i="0" lang="en-GB" sz="140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UX/Product Lead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5330309" y="3536036"/>
            <a:ext cx="3606403" cy="290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1" marL="68580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b="0" i="0" lang="en-GB" sz="140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Frontend Dev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"/>
          <p:cNvSpPr/>
          <p:nvPr/>
        </p:nvSpPr>
        <p:spPr>
          <a:xfrm>
            <a:off x="793790" y="1183243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lang="en-GB" sz="44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Conclusion</a:t>
            </a:r>
            <a:endParaRPr sz="4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2" name="Google Shape;22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3790" y="2345650"/>
            <a:ext cx="1134070" cy="166985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0"/>
          <p:cNvSpPr/>
          <p:nvPr/>
        </p:nvSpPr>
        <p:spPr>
          <a:xfrm>
            <a:off x="2154674" y="2572464"/>
            <a:ext cx="36353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Agentic Workflow Platform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2154674" y="3048773"/>
            <a:ext cx="1168193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None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Total replacement of a static chatbot. Activates autonomous agents with a human in the loop while preserving observability and governance. Scalable on demand.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" name="Google Shape;22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3790" y="4015502"/>
            <a:ext cx="1134070" cy="166985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0"/>
          <p:cNvSpPr/>
          <p:nvPr/>
        </p:nvSpPr>
        <p:spPr>
          <a:xfrm>
            <a:off x="2154674" y="4242316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Budget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2154674" y="4585305"/>
            <a:ext cx="1168193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None/>
            </a:pPr>
            <a:r>
              <a:rPr b="1"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Cost Offset</a:t>
            </a:r>
            <a:endParaRPr/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None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Development budget replaces recurring 1 year for most of L1/L2 support cost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8" name="Google Shape;22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3790" y="5685353"/>
            <a:ext cx="1134070" cy="1360884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0"/>
          <p:cNvSpPr/>
          <p:nvPr/>
        </p:nvSpPr>
        <p:spPr>
          <a:xfrm>
            <a:off x="2154673" y="575339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2200"/>
              <a:buFont typeface="Instrument Sans SemiBold"/>
              <a:buNone/>
            </a:pPr>
            <a:r>
              <a:rPr lang="en-GB" sz="220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Value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2154674" y="6107727"/>
            <a:ext cx="1168193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None/>
            </a:pPr>
            <a:r>
              <a:rPr b="1"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Ownership</a:t>
            </a:r>
            <a:endParaRPr/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750"/>
              <a:buFont typeface="Instrument Sans Medium"/>
              <a:buNone/>
            </a:pPr>
            <a:r>
              <a:rPr lang="en-GB" sz="17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We own the "Brain" and the "Connectors" (no Black Box SaaS).</a:t>
            </a:r>
            <a:endParaRPr sz="1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6450" y="1081050"/>
            <a:ext cx="14157500" cy="606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0" name="Google Shape;240;g3b86952480f_0_59"/>
          <p:cNvGraphicFramePr/>
          <p:nvPr/>
        </p:nvGraphicFramePr>
        <p:xfrm>
          <a:off x="556591" y="100079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{F839660E-A9F4-4646-8AA0-80A58FB40DAB}</a:tableStyleId>
              </a:tblPr>
              <a:tblGrid>
                <a:gridCol w="2443750"/>
                <a:gridCol w="2392925"/>
                <a:gridCol w="3492325"/>
                <a:gridCol w="5049075"/>
              </a:tblGrid>
              <a:tr h="31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Phase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Timeline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Key Activities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Technical</a:t>
                      </a:r>
                      <a:r>
                        <a:rPr b="1" i="0" lang="en-GB" sz="18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 </a:t>
                      </a:r>
                      <a:r>
                        <a:rPr b="1" lang="en-GB" sz="20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Focus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000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Foundation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18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1-2</a:t>
                      </a:r>
                      <a:endParaRPr sz="18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18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Setup VPC Service Controls &amp; Confidential GKE Cluster.</a:t>
                      </a:r>
                      <a:endParaRPr sz="18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i="0" lang="en-GB" sz="18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Security:</a:t>
                      </a:r>
                      <a:r>
                        <a:rPr i="0" lang="en-GB" sz="18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 Establishing the Zero-Trust serverless enclave in paris-west-9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18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Logic &amp; Agents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2-3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GB" sz="18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Develop the LangGraph Supervisor and specialized CrewAI agents (IT, Ops, Analyst).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Orchestration:</a:t>
                      </a: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 Implementing stateful multi-agent flows with FastAPI and LangGraph.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376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Resilience (Queue)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3-4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Implement Cloud Tasks for long-running (3–5 min) actions and Transient RAG processing.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b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Connects the Confidential GKE orchestrator to asynchronous background services for higher reliability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828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End-User HITL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4-5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Integrating the </a:t>
                      </a:r>
                      <a:r>
                        <a:rPr b="1"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"Interrupt" UI</a:t>
                      </a: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 to facilitate Human-in-the-Loop (HITL) approvals for high-risk actions.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Governance:</a:t>
                      </a: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 Using IAP identity to validate high-risk actions before execution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000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Run Phase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6+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Production rollout to 25k users with 100% EU residency.</a:t>
                      </a:r>
                      <a:endParaRPr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Scalability:</a:t>
                      </a: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 Managed by horizontal, demand-driven serverless scaling via </a:t>
                      </a:r>
                      <a:r>
                        <a:rPr lang="en-GB" sz="18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Confidential GKE Autopilot</a:t>
                      </a:r>
                      <a:r>
                        <a:rPr i="0" lang="en-GB" sz="1800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</a:tbl>
          </a:graphicData>
        </a:graphic>
      </p:graphicFrame>
      <p:sp>
        <p:nvSpPr>
          <p:cNvPr id="241" name="Google Shape;241;g3b86952480f_0_59"/>
          <p:cNvSpPr txBox="1"/>
          <p:nvPr/>
        </p:nvSpPr>
        <p:spPr>
          <a:xfrm>
            <a:off x="152400" y="152400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Zero</a:t>
            </a:r>
            <a:r>
              <a:rPr b="1" lang="en-GB" sz="20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Trust</a:t>
            </a:r>
            <a:endParaRPr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3"/>
          <p:cNvSpPr/>
          <p:nvPr/>
        </p:nvSpPr>
        <p:spPr>
          <a:xfrm>
            <a:off x="1828800" y="0"/>
            <a:ext cx="10972800" cy="438912"/>
          </a:xfrm>
          <a:prstGeom prst="rect">
            <a:avLst/>
          </a:prstGeom>
          <a:solidFill>
            <a:srgbClr val="CC0000"/>
          </a:solidFill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60">
              <a:solidFill>
                <a:schemeClr val="lt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8" name="Google Shape;248;p13"/>
          <p:cNvSpPr txBox="1"/>
          <p:nvPr/>
        </p:nvSpPr>
        <p:spPr>
          <a:xfrm>
            <a:off x="2377440" y="548640"/>
            <a:ext cx="9875520" cy="6832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40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Operational Maturity (Day 2)</a:t>
            </a:r>
            <a:endParaRPr/>
          </a:p>
        </p:txBody>
      </p:sp>
      <p:graphicFrame>
        <p:nvGraphicFramePr>
          <p:cNvPr id="249" name="Google Shape;249;p13"/>
          <p:cNvGraphicFramePr/>
          <p:nvPr/>
        </p:nvGraphicFramePr>
        <p:xfrm>
          <a:off x="2182633" y="15361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{8F32C032-DF38-4E46-8BCA-A2CE63072470}</a:tableStyleId>
              </a:tblPr>
              <a:tblGrid>
                <a:gridCol w="2111075"/>
                <a:gridCol w="3753025"/>
                <a:gridCol w="4401050"/>
              </a:tblGrid>
              <a:tr h="575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Capability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Implementation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Value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</a:tr>
              <a:tr h="1850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1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Observability</a:t>
                      </a:r>
                      <a:endParaRPr sz="22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0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Distributed Tracing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0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(LangSmith/OpenTelemetry)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User flagged response (</a:t>
                      </a:r>
                      <a:r>
                        <a:rPr i="1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hallucination</a:t>
                      </a: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) is traced back to the specific retrieved document or agent decision.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</a:tr>
              <a:tr h="1850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1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QA &amp; Testing</a:t>
                      </a:r>
                      <a:endParaRPr sz="22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0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"Golden Dataset" Regression + Continuous Benchmarking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CI/CD pipeline runs 100+ standard questions to ensure new code doesn't degrade answer quality.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</a:tr>
              <a:tr h="1425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1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Resilience</a:t>
                      </a:r>
                      <a:endParaRPr sz="22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b="0"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Circuit Breakers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Instrument Sans"/>
                        <a:buNone/>
                      </a:pPr>
                      <a:r>
                        <a:rPr lang="en-GB" sz="22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Graceful degradation if a tool (e.g., ServiceNow) is slow or down.</a:t>
                      </a:r>
                      <a:endParaRPr/>
                    </a:p>
                  </a:txBody>
                  <a:tcPr marT="57150" marB="57150" marR="114300" marL="114300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14"/>
          <p:cNvGrpSpPr/>
          <p:nvPr/>
        </p:nvGrpSpPr>
        <p:grpSpPr>
          <a:xfrm>
            <a:off x="1828800" y="4118"/>
            <a:ext cx="10972799" cy="8221363"/>
            <a:chOff x="0" y="4118"/>
            <a:chExt cx="10972799" cy="8221363"/>
          </a:xfrm>
        </p:grpSpPr>
        <p:sp>
          <p:nvSpPr>
            <p:cNvPr id="255" name="Google Shape;255;p14"/>
            <p:cNvSpPr/>
            <p:nvPr/>
          </p:nvSpPr>
          <p:spPr>
            <a:xfrm rot="5400000">
              <a:off x="6669083" y="-2516651"/>
              <a:ext cx="1584840" cy="7022592"/>
            </a:xfrm>
            <a:prstGeom prst="round2SameRect">
              <a:avLst>
                <a:gd fmla="val 16667" name="adj1"/>
                <a:gd fmla="val 0" name="adj2"/>
              </a:avLst>
            </a:prstGeom>
            <a:solidFill>
              <a:srgbClr val="CCD3EA">
                <a:alpha val="89803"/>
              </a:srgbClr>
            </a:solidFill>
            <a:ln cap="flat" cmpd="sng" w="12700">
              <a:solidFill>
                <a:srgbClr val="CCD3EA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14"/>
            <p:cNvSpPr txBox="1"/>
            <p:nvPr/>
          </p:nvSpPr>
          <p:spPr>
            <a:xfrm>
              <a:off x="3950207" y="279591"/>
              <a:ext cx="6945226" cy="14301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23825" lIns="247650" spcFirstLastPara="1" rIns="247650" wrap="square" tIns="1238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Run (Services &amp; Workers)</a:t>
              </a:r>
              <a:r>
                <a:rPr b="0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: </a:t>
              </a:r>
              <a:r>
                <a:rPr b="1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~€600 - €800 / month</a:t>
              </a:r>
              <a:endPara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Run (Jobs - Connectors)</a:t>
              </a:r>
              <a:r>
                <a:rPr b="0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: </a:t>
              </a:r>
              <a:r>
                <a:rPr b="1" i="0" lang="en-GB" sz="1800" u="none" cap="none" strike="noStrike">
                  <a:solidFill>
                    <a:schemeClr val="dk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~€30 - €60 / month</a:t>
              </a:r>
              <a:endPara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57" name="Google Shape;257;p14"/>
            <p:cNvSpPr/>
            <p:nvPr/>
          </p:nvSpPr>
          <p:spPr>
            <a:xfrm>
              <a:off x="0" y="4118"/>
              <a:ext cx="3950208" cy="1981051"/>
            </a:xfrm>
            <a:prstGeom prst="roundRect">
              <a:avLst>
                <a:gd fmla="val 16667" name="adj"/>
              </a:avLst>
            </a:prstGeom>
            <a:solidFill>
              <a:srgbClr val="4372C3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4"/>
            <p:cNvSpPr txBox="1"/>
            <p:nvPr/>
          </p:nvSpPr>
          <p:spPr>
            <a:xfrm>
              <a:off x="96707" y="100825"/>
              <a:ext cx="3756794" cy="17876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76200" spcFirstLastPara="1" rIns="76200" wrap="square" tIns="381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Instrument Sans"/>
                <a:buNone/>
              </a:pPr>
              <a:r>
                <a:rPr b="1" i="0" lang="en-GB" sz="2000">
                  <a:solidFill>
                    <a:schemeClr val="lt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Compute &amp; Application Hosting</a:t>
              </a:r>
              <a:endParaRPr sz="2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59" name="Google Shape;259;p14"/>
            <p:cNvSpPr/>
            <p:nvPr/>
          </p:nvSpPr>
          <p:spPr>
            <a:xfrm rot="5400000">
              <a:off x="6669083" y="-436547"/>
              <a:ext cx="1584840" cy="7022592"/>
            </a:xfrm>
            <a:prstGeom prst="round2SameRect">
              <a:avLst>
                <a:gd fmla="val 16667" name="adj1"/>
                <a:gd fmla="val 0" name="adj2"/>
              </a:avLst>
            </a:prstGeom>
            <a:solidFill>
              <a:srgbClr val="CCD3EA">
                <a:alpha val="89803"/>
              </a:srgbClr>
            </a:solidFill>
            <a:ln cap="flat" cmpd="sng" w="12700">
              <a:solidFill>
                <a:srgbClr val="CCD3EA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14"/>
            <p:cNvSpPr txBox="1"/>
            <p:nvPr/>
          </p:nvSpPr>
          <p:spPr>
            <a:xfrm>
              <a:off x="3950207" y="2359695"/>
              <a:ext cx="6945226" cy="14301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23825" lIns="247650" spcFirstLastPara="1" rIns="247650" wrap="square" tIns="1238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SQL (PostgreSQL HA): ~€250 - €400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Vertex AI Search (Vector Store): ~€600 - €1,000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Storage (GCS): ~€50 - €100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Memorystore (Redis) - Optional: ~€40 - €150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61" name="Google Shape;261;p14"/>
            <p:cNvSpPr/>
            <p:nvPr/>
          </p:nvSpPr>
          <p:spPr>
            <a:xfrm>
              <a:off x="0" y="2084222"/>
              <a:ext cx="3950208" cy="1981051"/>
            </a:xfrm>
            <a:prstGeom prst="roundRect">
              <a:avLst>
                <a:gd fmla="val 16667" name="adj"/>
              </a:avLst>
            </a:prstGeom>
            <a:solidFill>
              <a:srgbClr val="4372C3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14"/>
            <p:cNvSpPr txBox="1"/>
            <p:nvPr/>
          </p:nvSpPr>
          <p:spPr>
            <a:xfrm>
              <a:off x="96707" y="2180929"/>
              <a:ext cx="3756794" cy="17876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76200" spcFirstLastPara="1" rIns="76200" wrap="square" tIns="381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Instrument Sans"/>
                <a:buNone/>
              </a:pPr>
              <a:r>
                <a:rPr b="1" i="0" lang="en-GB" sz="2000">
                  <a:solidFill>
                    <a:schemeClr val="lt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Data &amp; Storage</a:t>
              </a:r>
              <a:endParaRPr sz="2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63" name="Google Shape;263;p14"/>
            <p:cNvSpPr/>
            <p:nvPr/>
          </p:nvSpPr>
          <p:spPr>
            <a:xfrm rot="5400000">
              <a:off x="6669083" y="1643555"/>
              <a:ext cx="1584840" cy="7022592"/>
            </a:xfrm>
            <a:prstGeom prst="round2SameRect">
              <a:avLst>
                <a:gd fmla="val 16667" name="adj1"/>
                <a:gd fmla="val 0" name="adj2"/>
              </a:avLst>
            </a:prstGeom>
            <a:solidFill>
              <a:srgbClr val="CCD3EA">
                <a:alpha val="89803"/>
              </a:srgbClr>
            </a:solidFill>
            <a:ln cap="flat" cmpd="sng" w="12700">
              <a:solidFill>
                <a:srgbClr val="CCD3EA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4"/>
            <p:cNvSpPr txBox="1"/>
            <p:nvPr/>
          </p:nvSpPr>
          <p:spPr>
            <a:xfrm>
              <a:off x="3950207" y="4439797"/>
              <a:ext cx="6945226" cy="14301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23825" lIns="247650" spcFirstLastPara="1" rIns="247650" wrap="square" tIns="1238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Vertex AI (Gemini Models): ~€200 - €500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Security &amp; Networking (The "Enterprise" Premium)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Armor + Load Balancer: ~€40 - €100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NAT: ~€50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Secret Manager &amp; KMS: ~€50 - €80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0" y="4164326"/>
              <a:ext cx="3950208" cy="1981051"/>
            </a:xfrm>
            <a:prstGeom prst="roundRect">
              <a:avLst>
                <a:gd fmla="val 16667" name="adj"/>
              </a:avLst>
            </a:prstGeom>
            <a:solidFill>
              <a:srgbClr val="4372C3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4"/>
            <p:cNvSpPr txBox="1"/>
            <p:nvPr/>
          </p:nvSpPr>
          <p:spPr>
            <a:xfrm>
              <a:off x="96707" y="4261033"/>
              <a:ext cx="3756794" cy="17876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76200" spcFirstLastPara="1" rIns="76200" wrap="square" tIns="381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Instrument Sans"/>
                <a:buNone/>
              </a:pPr>
              <a:r>
                <a:rPr b="1" i="0" lang="en-GB" sz="2000">
                  <a:solidFill>
                    <a:schemeClr val="lt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AI &amp; Intelligence</a:t>
              </a:r>
              <a:endParaRPr sz="2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67" name="Google Shape;267;p14"/>
            <p:cNvSpPr/>
            <p:nvPr/>
          </p:nvSpPr>
          <p:spPr>
            <a:xfrm rot="5400000">
              <a:off x="6669083" y="3723659"/>
              <a:ext cx="1584840" cy="7022592"/>
            </a:xfrm>
            <a:prstGeom prst="round2SameRect">
              <a:avLst>
                <a:gd fmla="val 16667" name="adj1"/>
                <a:gd fmla="val 0" name="adj2"/>
              </a:avLst>
            </a:prstGeom>
            <a:solidFill>
              <a:srgbClr val="CCD3EA">
                <a:alpha val="89803"/>
              </a:srgbClr>
            </a:solidFill>
            <a:ln cap="flat" cmpd="sng" w="12700">
              <a:solidFill>
                <a:srgbClr val="CCD3EA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14"/>
            <p:cNvSpPr txBox="1"/>
            <p:nvPr/>
          </p:nvSpPr>
          <p:spPr>
            <a:xfrm>
              <a:off x="3950207" y="6519901"/>
              <a:ext cx="6945226" cy="14301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23825" lIns="247650" spcFirstLastPara="1" rIns="247650" wrap="square" tIns="1238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Cloud Logging &amp; Monitoring: ~€100 - €200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7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Instrument Sans"/>
                <a:buChar char="•"/>
              </a:pPr>
              <a:r>
                <a:rPr b="1" i="0" lang="en-GB" sz="1800" u="none" cap="none" strike="noStrike">
                  <a:solidFill>
                    <a:srgbClr val="000000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Dataplex (Data Quality): ~€100 - €200 / month</a:t>
              </a:r>
              <a:endParaRPr b="1" i="0" sz="1800" u="none" cap="none" strike="noStrike">
                <a:solidFill>
                  <a:srgbClr val="000000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  <p:sp>
          <p:nvSpPr>
            <p:cNvPr id="269" name="Google Shape;269;p14"/>
            <p:cNvSpPr/>
            <p:nvPr/>
          </p:nvSpPr>
          <p:spPr>
            <a:xfrm>
              <a:off x="0" y="6244430"/>
              <a:ext cx="3950208" cy="1981051"/>
            </a:xfrm>
            <a:prstGeom prst="roundRect">
              <a:avLst>
                <a:gd fmla="val 16667" name="adj"/>
              </a:avLst>
            </a:prstGeom>
            <a:solidFill>
              <a:srgbClr val="4372C3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4"/>
            <p:cNvSpPr txBox="1"/>
            <p:nvPr/>
          </p:nvSpPr>
          <p:spPr>
            <a:xfrm>
              <a:off x="96707" y="6341137"/>
              <a:ext cx="3756794" cy="17876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76200" spcFirstLastPara="1" rIns="76200" wrap="square" tIns="3810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Instrument Sans"/>
                <a:buNone/>
              </a:pPr>
              <a:r>
                <a:rPr b="1" i="0" lang="en-GB" sz="2000">
                  <a:solidFill>
                    <a:schemeClr val="lt1"/>
                  </a:solidFill>
                  <a:latin typeface="Instrument Sans"/>
                  <a:ea typeface="Instrument Sans"/>
                  <a:cs typeface="Instrument Sans"/>
                  <a:sym typeface="Instrument Sans"/>
                </a:rPr>
                <a:t>Observability &amp; Operations</a:t>
              </a:r>
              <a:endParaRPr sz="2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b86952480f_0_1"/>
          <p:cNvSpPr/>
          <p:nvPr/>
        </p:nvSpPr>
        <p:spPr>
          <a:xfrm>
            <a:off x="717490" y="218473"/>
            <a:ext cx="2234100" cy="2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650"/>
              <a:buFont typeface="Instrument Sans SemiBold"/>
              <a:buNone/>
            </a:pPr>
            <a:r>
              <a:rPr lang="en-GB" sz="16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Physical Architecture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b86952480f_0_1"/>
          <p:cNvSpPr/>
          <p:nvPr/>
        </p:nvSpPr>
        <p:spPr>
          <a:xfrm>
            <a:off x="717490" y="552206"/>
            <a:ext cx="42867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Physical Architecture</a:t>
            </a:r>
            <a:endParaRPr sz="3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b86952480f_0_1"/>
          <p:cNvSpPr/>
          <p:nvPr/>
        </p:nvSpPr>
        <p:spPr>
          <a:xfrm>
            <a:off x="717503" y="1151800"/>
            <a:ext cx="13337700" cy="4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650"/>
              <a:buFont typeface="Instrument Sans SemiBold"/>
              <a:buNone/>
            </a:pPr>
            <a:r>
              <a:rPr i="1" lang="en-GB" sz="2650" u="sng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Contractual</a:t>
            </a:r>
            <a:r>
              <a:rPr lang="en-GB" sz="26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Trust</a:t>
            </a:r>
            <a:r>
              <a:rPr lang="en-GB" sz="26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Serverless Enclave for Enterprise GenAI (Paris-west-9)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screenshot of a computer&#10;&#10;AI-generated content may be incorrect." id="279" name="Google Shape;279;g3b86952480f_0_1"/>
          <p:cNvPicPr preferRelativeResize="0"/>
          <p:nvPr/>
        </p:nvPicPr>
        <p:blipFill rotWithShape="1">
          <a:blip r:embed="rId3">
            <a:alphaModFix/>
          </a:blip>
          <a:srcRect b="14266" l="0" r="0" t="0"/>
          <a:stretch/>
        </p:blipFill>
        <p:spPr>
          <a:xfrm>
            <a:off x="1293933" y="2166670"/>
            <a:ext cx="12042535" cy="5968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b86952480f_0_10"/>
          <p:cNvSpPr/>
          <p:nvPr/>
        </p:nvSpPr>
        <p:spPr>
          <a:xfrm>
            <a:off x="789503" y="756880"/>
            <a:ext cx="21276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84C1FA"/>
              </a:buClr>
              <a:buSzPts val="1650"/>
              <a:buFont typeface="Instrument Sans SemiBold"/>
              <a:buNone/>
            </a:pPr>
            <a:r>
              <a:rPr lang="en-GB" sz="1650">
                <a:solidFill>
                  <a:srgbClr val="84C1FA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Analyse Comparative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g3b86952480f_0_10"/>
          <p:cNvSpPr/>
          <p:nvPr/>
        </p:nvSpPr>
        <p:spPr>
          <a:xfrm>
            <a:off x="789499" y="1088825"/>
            <a:ext cx="58755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300"/>
              <a:buFont typeface="Instrument Sans SemiBold"/>
              <a:buNone/>
            </a:pPr>
            <a:r>
              <a:rPr lang="en-GB" sz="33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Advantages</a:t>
            </a:r>
            <a:r>
              <a:rPr i="1" lang="en-GB" sz="2500" u="sng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(</a:t>
            </a:r>
            <a:r>
              <a:rPr i="1" lang="en-GB" sz="2500" u="sng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Contractual)</a:t>
            </a:r>
            <a:endParaRPr i="1" sz="25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g3b86952480f_0_10"/>
          <p:cNvSpPr/>
          <p:nvPr/>
        </p:nvSpPr>
        <p:spPr>
          <a:xfrm>
            <a:off x="789503" y="1871186"/>
            <a:ext cx="13051500" cy="5601600"/>
          </a:xfrm>
          <a:prstGeom prst="roundRect">
            <a:avLst>
              <a:gd fmla="val 2718" name="adj"/>
            </a:avLst>
          </a:prstGeom>
          <a:noFill/>
          <a:ln cap="flat" cmpd="sng" w="9525">
            <a:solidFill>
              <a:srgbClr val="000000">
                <a:alpha val="784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g3b86952480f_0_10"/>
          <p:cNvSpPr/>
          <p:nvPr/>
        </p:nvSpPr>
        <p:spPr>
          <a:xfrm>
            <a:off x="797123" y="1878806"/>
            <a:ext cx="13036200" cy="488700"/>
          </a:xfrm>
          <a:prstGeom prst="rect">
            <a:avLst/>
          </a:prstGeom>
          <a:solidFill>
            <a:srgbClr val="FFFFFF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g3b86952480f_0_10"/>
          <p:cNvSpPr/>
          <p:nvPr/>
        </p:nvSpPr>
        <p:spPr>
          <a:xfrm>
            <a:off x="966311" y="1987868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Advantage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b86952480f_0_10"/>
          <p:cNvSpPr/>
          <p:nvPr/>
        </p:nvSpPr>
        <p:spPr>
          <a:xfrm>
            <a:off x="3577350" y="1987876"/>
            <a:ext cx="3258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Static Chatbot (Current)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b86952480f_0_10"/>
          <p:cNvSpPr/>
          <p:nvPr/>
        </p:nvSpPr>
        <p:spPr>
          <a:xfrm>
            <a:off x="6836331" y="1987868"/>
            <a:ext cx="35652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Agentic Platform Capability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g3b86952480f_0_10"/>
          <p:cNvSpPr/>
          <p:nvPr/>
        </p:nvSpPr>
        <p:spPr>
          <a:xfrm>
            <a:off x="10747177" y="1987868"/>
            <a:ext cx="2916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2000"/>
              <a:buFont typeface="Instrument Sans Medium"/>
              <a:buNone/>
            </a:pPr>
            <a:r>
              <a:rPr b="1" lang="en-GB" sz="20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Architectural Solution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g3b86952480f_0_10"/>
          <p:cNvSpPr/>
          <p:nvPr/>
        </p:nvSpPr>
        <p:spPr>
          <a:xfrm>
            <a:off x="797123" y="2367558"/>
            <a:ext cx="13036200" cy="759300"/>
          </a:xfrm>
          <a:prstGeom prst="rect">
            <a:avLst/>
          </a:prstGeom>
          <a:solidFill>
            <a:srgbClr val="000000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b86952480f_0_10"/>
          <p:cNvSpPr/>
          <p:nvPr/>
        </p:nvSpPr>
        <p:spPr>
          <a:xfrm>
            <a:off x="966311" y="2476619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Operational Efficiency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b86952480f_0_10"/>
          <p:cNvSpPr/>
          <p:nvPr/>
        </p:nvSpPr>
        <p:spPr>
          <a:xfrm>
            <a:off x="3577352" y="2476619"/>
            <a:ext cx="29133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High L1/L2 support costs (€1M+ annually) for 25k users.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g3b86952480f_0_10"/>
          <p:cNvSpPr/>
          <p:nvPr/>
        </p:nvSpPr>
        <p:spPr>
          <a:xfrm>
            <a:off x="6836331" y="2476619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Agents offload L1/L2 support and operational actions and their recurrent cost.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g3b86952480f_0_10"/>
          <p:cNvSpPr/>
          <p:nvPr/>
        </p:nvSpPr>
        <p:spPr>
          <a:xfrm>
            <a:off x="10747177" y="2476619"/>
            <a:ext cx="29169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Supervisor (LangGraph)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CrewAI Agents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g3b86952480f_0_10"/>
          <p:cNvSpPr/>
          <p:nvPr/>
        </p:nvSpPr>
        <p:spPr>
          <a:xfrm>
            <a:off x="797123" y="3126938"/>
            <a:ext cx="13036200" cy="759300"/>
          </a:xfrm>
          <a:prstGeom prst="rect">
            <a:avLst/>
          </a:prstGeom>
          <a:solidFill>
            <a:srgbClr val="FFFFFF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g3b86952480f_0_10"/>
          <p:cNvSpPr/>
          <p:nvPr/>
        </p:nvSpPr>
        <p:spPr>
          <a:xfrm>
            <a:off x="966311" y="3236000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Reduced MTTR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g3b86952480f_0_10"/>
          <p:cNvSpPr/>
          <p:nvPr/>
        </p:nvSpPr>
        <p:spPr>
          <a:xfrm>
            <a:off x="3577352" y="3236000"/>
            <a:ext cx="29133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Response and resolution times are bottlenecked by human intervention.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g3b86952480f_0_10"/>
          <p:cNvSpPr/>
          <p:nvPr/>
        </p:nvSpPr>
        <p:spPr>
          <a:xfrm>
            <a:off x="6836331" y="3236000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Faster response times with minimal human intervention through automated workflows.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b86952480f_0_10"/>
          <p:cNvSpPr/>
          <p:nvPr/>
        </p:nvSpPr>
        <p:spPr>
          <a:xfrm>
            <a:off x="10747177" y="3236000"/>
            <a:ext cx="29169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Supervisor (LangGraph)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CrewAI Agents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g3b86952480f_0_10"/>
          <p:cNvSpPr/>
          <p:nvPr/>
        </p:nvSpPr>
        <p:spPr>
          <a:xfrm>
            <a:off x="797123" y="3886319"/>
            <a:ext cx="13036200" cy="1029900"/>
          </a:xfrm>
          <a:prstGeom prst="rect">
            <a:avLst/>
          </a:prstGeom>
          <a:solidFill>
            <a:srgbClr val="000000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g3b86952480f_0_10"/>
          <p:cNvSpPr/>
          <p:nvPr/>
        </p:nvSpPr>
        <p:spPr>
          <a:xfrm>
            <a:off x="966311" y="3995380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Data Sovereignty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g3b86952480f_0_10"/>
          <p:cNvSpPr/>
          <p:nvPr/>
        </p:nvSpPr>
        <p:spPr>
          <a:xfrm>
            <a:off x="3577352" y="3995380"/>
            <a:ext cx="2913300" cy="8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Reliance on "Black Box" SaaS with vague GDPR and data residency controls.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b86952480f_0_10"/>
          <p:cNvSpPr/>
          <p:nvPr/>
        </p:nvSpPr>
        <p:spPr>
          <a:xfrm>
            <a:off x="6836331" y="3995380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100% EU Data Residency with Zero-Trust security in a serverless enclave.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g3b86952480f_0_10"/>
          <p:cNvSpPr/>
          <p:nvPr/>
        </p:nvSpPr>
        <p:spPr>
          <a:xfrm>
            <a:off x="10747177" y="3995380"/>
            <a:ext cx="2916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VPC Service Control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(Paris-west-9)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g3b86952480f_0_10"/>
          <p:cNvSpPr/>
          <p:nvPr/>
        </p:nvSpPr>
        <p:spPr>
          <a:xfrm>
            <a:off x="797123" y="4916329"/>
            <a:ext cx="13036200" cy="759300"/>
          </a:xfrm>
          <a:prstGeom prst="rect">
            <a:avLst/>
          </a:prstGeom>
          <a:solidFill>
            <a:srgbClr val="FFFFFF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g3b86952480f_0_10"/>
          <p:cNvSpPr/>
          <p:nvPr/>
        </p:nvSpPr>
        <p:spPr>
          <a:xfrm>
            <a:off x="966311" y="5025390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System Ownership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g3b86952480f_0_10"/>
          <p:cNvSpPr/>
          <p:nvPr/>
        </p:nvSpPr>
        <p:spPr>
          <a:xfrm>
            <a:off x="3577352" y="5025390"/>
            <a:ext cx="29133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Renting a platform where the reasoning logic is a vendor secret.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g3b86952480f_0_10"/>
          <p:cNvSpPr/>
          <p:nvPr/>
        </p:nvSpPr>
        <p:spPr>
          <a:xfrm>
            <a:off x="6836331" y="5025390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Full ownership of the "AI Brain," specialized logic, and system connectors.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g3b86952480f_0_10"/>
          <p:cNvSpPr/>
          <p:nvPr/>
        </p:nvSpPr>
        <p:spPr>
          <a:xfrm>
            <a:off x="10747177" y="5025390"/>
            <a:ext cx="29169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FastAPI Native Stack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FastMCP Connectors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g3b86952480f_0_10"/>
          <p:cNvSpPr/>
          <p:nvPr/>
        </p:nvSpPr>
        <p:spPr>
          <a:xfrm>
            <a:off x="797123" y="5675709"/>
            <a:ext cx="13036200" cy="1029900"/>
          </a:xfrm>
          <a:prstGeom prst="rect">
            <a:avLst/>
          </a:prstGeom>
          <a:solidFill>
            <a:srgbClr val="000000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b86952480f_0_10"/>
          <p:cNvSpPr/>
          <p:nvPr/>
        </p:nvSpPr>
        <p:spPr>
          <a:xfrm>
            <a:off x="966311" y="5784771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Security &amp; Privacy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b86952480f_0_10"/>
          <p:cNvSpPr/>
          <p:nvPr/>
        </p:nvSpPr>
        <p:spPr>
          <a:xfrm>
            <a:off x="3577352" y="5784771"/>
            <a:ext cx="2913300" cy="8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Limited ability to filter or redact sensitive data before LLM processing.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b86952480f_0_10"/>
          <p:cNvSpPr/>
          <p:nvPr/>
        </p:nvSpPr>
        <p:spPr>
          <a:xfrm>
            <a:off x="6836331" y="5784771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Integrated PII redaction and identity propagation for secure operations.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g3b86952480f_0_10"/>
          <p:cNvSpPr/>
          <p:nvPr/>
        </p:nvSpPr>
        <p:spPr>
          <a:xfrm>
            <a:off x="10747177" y="5784771"/>
            <a:ext cx="2916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Cloud SDP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IAP Authentication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g3b86952480f_0_10"/>
          <p:cNvSpPr/>
          <p:nvPr/>
        </p:nvSpPr>
        <p:spPr>
          <a:xfrm>
            <a:off x="797123" y="6705719"/>
            <a:ext cx="13036200" cy="759300"/>
          </a:xfrm>
          <a:prstGeom prst="rect">
            <a:avLst/>
          </a:prstGeom>
          <a:solidFill>
            <a:srgbClr val="FFFFFF">
              <a:alpha val="392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b86952480f_0_10"/>
          <p:cNvSpPr/>
          <p:nvPr/>
        </p:nvSpPr>
        <p:spPr>
          <a:xfrm>
            <a:off x="966311" y="6814780"/>
            <a:ext cx="2265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Scalable TCO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b86952480f_0_10"/>
          <p:cNvSpPr/>
          <p:nvPr/>
        </p:nvSpPr>
        <p:spPr>
          <a:xfrm>
            <a:off x="3577352" y="6814780"/>
            <a:ext cx="29133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Inflexible scaling; costs don't align perfectly with actual usage.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g3b86952480f_0_10"/>
          <p:cNvSpPr/>
          <p:nvPr/>
        </p:nvSpPr>
        <p:spPr>
          <a:xfrm>
            <a:off x="6836331" y="6814780"/>
            <a:ext cx="35652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Horizontal, demand-driven scaling with usage-dependent serverless costing.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3b86952480f_0_10"/>
          <p:cNvSpPr/>
          <p:nvPr/>
        </p:nvSpPr>
        <p:spPr>
          <a:xfrm>
            <a:off x="10747177" y="6814780"/>
            <a:ext cx="29169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300"/>
              <a:buFont typeface="Instrument Sans Medium"/>
              <a:buNone/>
            </a:pP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Cloud Run</a:t>
            </a:r>
            <a:r>
              <a:rPr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&amp; </a:t>
            </a:r>
            <a:r>
              <a:rPr b="1" lang="en-GB" sz="13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Serverless Scaling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12"/>
          <p:cNvGraphicFramePr/>
          <p:nvPr/>
        </p:nvGraphicFramePr>
        <p:xfrm>
          <a:off x="556591" y="100079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{F839660E-A9F4-4646-8AA0-80A58FB40DAB}</a:tableStyleId>
              </a:tblPr>
              <a:tblGrid>
                <a:gridCol w="2443750"/>
                <a:gridCol w="2392925"/>
                <a:gridCol w="3492325"/>
                <a:gridCol w="5049075"/>
              </a:tblGrid>
              <a:tr h="316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Phase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Timeline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Key Activities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Technical</a:t>
                      </a:r>
                      <a:r>
                        <a:rPr b="1" i="0" lang="en-GB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b="1" lang="en-GB" sz="2000" u="none" cap="none" strike="noStrike">
                          <a:solidFill>
                            <a:schemeClr val="dk1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Focus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000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Foundation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1-2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Setup GCP Landing Zone, VPC Service Controls, and IAP Auth)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i="0" lang="en-GB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Security:</a:t>
                      </a:r>
                      <a:r>
                        <a:rPr b="0" i="0" lang="en-GB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Establishing the Zero-Trust serverless enclave in paris-west-9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18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Logic &amp; Agents</a:t>
                      </a:r>
                      <a:endParaRPr sz="2000" u="none" cap="none" strike="noStrik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 u="none" cap="none" strike="noStrike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2-3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GB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Develop the LangGraph Supervisor and specialized CrewAI agents (IT, Ops, Analyst).</a:t>
                      </a:r>
                      <a:endParaRPr sz="2000"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Orchestration:</a:t>
                      </a: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Implementing stateful multi-agent flows with FastAPI and LangGraph.</a:t>
                      </a:r>
                      <a:endParaRPr sz="20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/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376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Resilience (Queue)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3-4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Implement Cloud Tasks for long-running (3–5 min) actions and Transient RAG processing.</a:t>
                      </a:r>
                      <a:endParaRPr sz="20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/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b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Connects the Cloud Run orchestrator to asynchronous background services for higher reliability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828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End-User HITL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4-5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Integrating the </a:t>
                      </a:r>
                      <a:r>
                        <a:rPr b="1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"Interrupt" UI</a:t>
                      </a: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to facilitate Human-in-the-Loop (HITL) approvals for high-risk actions.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Governance:</a:t>
                      </a: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Using IAP identity to validate high-risk actions before execution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  <a:tr h="1000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b="1"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Run Phase</a:t>
                      </a: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Month 6+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Instrument Sans"/>
                        <a:buNone/>
                      </a:pPr>
                      <a:r>
                        <a:rPr lang="en-GB" sz="2000"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Production rollout to 25k users with 100% EU residency.</a:t>
                      </a:r>
                      <a:endParaRPr/>
                    </a:p>
                  </a:txBody>
                  <a:tcPr marT="30175" marB="30175" marR="60350" marL="6035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Scalability:</a:t>
                      </a:r>
                      <a:r>
                        <a:rPr b="0" i="0" lang="en-GB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Managed by horizontal, demand-driven serverless scaling via Cloud Run.</a:t>
                      </a:r>
                      <a:endParaRPr sz="20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GB" sz="2000"/>
                      </a:br>
                      <a:endParaRPr sz="2000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T="30175" marB="30175" marR="60350" marL="60350" anchor="ctr">
                    <a:noFill/>
                  </a:tcPr>
                </a:tc>
              </a:tr>
            </a:tbl>
          </a:graphicData>
        </a:graphic>
      </p:graphicFrame>
      <p:sp>
        <p:nvSpPr>
          <p:cNvPr id="328" name="Google Shape;328;p12"/>
          <p:cNvSpPr txBox="1"/>
          <p:nvPr/>
        </p:nvSpPr>
        <p:spPr>
          <a:xfrm>
            <a:off x="152400" y="152400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Contractual</a:t>
            </a:r>
            <a:r>
              <a:rPr b="1" lang="en-GB" sz="2000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Trust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2026-01-13T16:06:48Z</dcterms:created>
</cp:coreProperties>
</file>